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02" r:id="rId4"/>
    <p:sldMasterId id="2147483925" r:id="rId5"/>
  </p:sldMasterIdLst>
  <p:notesMasterIdLst>
    <p:notesMasterId r:id="rId31"/>
  </p:notesMasterIdLst>
  <p:handoutMasterIdLst>
    <p:handoutMasterId r:id="rId32"/>
  </p:handoutMasterIdLst>
  <p:sldIdLst>
    <p:sldId id="257" r:id="rId6"/>
    <p:sldId id="2147483038" r:id="rId7"/>
    <p:sldId id="2147483036" r:id="rId8"/>
    <p:sldId id="2147483037" r:id="rId9"/>
    <p:sldId id="263" r:id="rId10"/>
    <p:sldId id="261" r:id="rId11"/>
    <p:sldId id="306" r:id="rId12"/>
    <p:sldId id="256" r:id="rId13"/>
    <p:sldId id="2147483039" r:id="rId14"/>
    <p:sldId id="2147483040" r:id="rId15"/>
    <p:sldId id="259" r:id="rId16"/>
    <p:sldId id="260" r:id="rId17"/>
    <p:sldId id="2147483041" r:id="rId18"/>
    <p:sldId id="262" r:id="rId19"/>
    <p:sldId id="2147483042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307" r:id="rId28"/>
    <p:sldId id="276" r:id="rId29"/>
    <p:sldId id="277" r:id="rId30"/>
  </p:sldIdLst>
  <p:sldSz cx="12192000" cy="6858000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ヒラギノ角ゴ Pro W3"/>
        <a:cs typeface="ヒラギノ角ゴ Pro W3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AEDFB"/>
    <a:srgbClr val="C1F0C8"/>
    <a:srgbClr val="0077C8"/>
    <a:srgbClr val="A9D7E5"/>
    <a:srgbClr val="66B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20917A-B69F-409F-90DD-D90528637934}" v="22" dt="2026-09-25T10:27:52.371"/>
    <p1510:client id="{CFEDD10D-A8D2-4978-9649-F467253871EF}" v="199" dt="2026-09-24T12:19:55.812"/>
  </p1510:revLst>
</p1510:revInfo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handoutMaster" Target="handoutMasters/handoutMaster1.xml"/><Relationship Id="rId37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4C066F1-0E7B-43BC-A14D-B401A613FF6B}" type="doc">
      <dgm:prSet loTypeId="urn:microsoft.com/office/officeart/2005/8/layout/pyramid1" loCatId="pyramid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6D1C4CC-DD4C-4847-957C-72275B353F2A}">
      <dgm:prSet phldrT="[Text]" phldr="0" custT="1"/>
      <dgm:spPr>
        <a:noFill/>
        <a:ln>
          <a:solidFill>
            <a:schemeClr val="accent1"/>
          </a:solidFill>
        </a:ln>
      </dgm:spPr>
      <dgm:t>
        <a:bodyPr/>
        <a:lstStyle/>
        <a:p>
          <a:r>
            <a:rPr lang="en-US" sz="1600"/>
            <a:t>AI</a:t>
          </a:r>
          <a:endParaRPr lang="en-US" sz="6300"/>
        </a:p>
      </dgm:t>
    </dgm:pt>
    <dgm:pt modelId="{291AC7AF-7EE8-49EC-BFEB-76E108901B75}" type="parTrans" cxnId="{71797919-8651-446E-A529-5C5861CD5640}">
      <dgm:prSet/>
      <dgm:spPr/>
      <dgm:t>
        <a:bodyPr/>
        <a:lstStyle/>
        <a:p>
          <a:endParaRPr lang="en-US"/>
        </a:p>
      </dgm:t>
    </dgm:pt>
    <dgm:pt modelId="{2F545C89-EC17-44E0-8032-43D311957E98}" type="sibTrans" cxnId="{71797919-8651-446E-A529-5C5861CD5640}">
      <dgm:prSet/>
      <dgm:spPr/>
      <dgm:t>
        <a:bodyPr/>
        <a:lstStyle/>
        <a:p>
          <a:endParaRPr lang="en-US"/>
        </a:p>
      </dgm:t>
    </dgm:pt>
    <dgm:pt modelId="{1313262F-E920-4C3B-96B4-E9D9A5CD4261}">
      <dgm:prSet phldrT="[Text]" phldr="0"/>
      <dgm:spPr>
        <a:noFill/>
        <a:ln>
          <a:solidFill>
            <a:schemeClr val="accent1"/>
          </a:solidFill>
        </a:ln>
      </dgm:spPr>
      <dgm:t>
        <a:bodyPr/>
        <a:lstStyle/>
        <a:p>
          <a:r>
            <a:rPr lang="en-US"/>
            <a:t>Committees</a:t>
          </a:r>
        </a:p>
      </dgm:t>
    </dgm:pt>
    <dgm:pt modelId="{5F34E371-7CF9-41E8-8399-55A3EF1E4DB6}" type="parTrans" cxnId="{0D59AA72-2A22-42BA-AE3A-3197B76F95F6}">
      <dgm:prSet/>
      <dgm:spPr/>
      <dgm:t>
        <a:bodyPr/>
        <a:lstStyle/>
        <a:p>
          <a:endParaRPr lang="en-US"/>
        </a:p>
      </dgm:t>
    </dgm:pt>
    <dgm:pt modelId="{76FA1A04-E804-4C9C-B1DC-DA514E4DE811}" type="sibTrans" cxnId="{0D59AA72-2A22-42BA-AE3A-3197B76F95F6}">
      <dgm:prSet/>
      <dgm:spPr/>
      <dgm:t>
        <a:bodyPr/>
        <a:lstStyle/>
        <a:p>
          <a:endParaRPr lang="en-US"/>
        </a:p>
      </dgm:t>
    </dgm:pt>
    <dgm:pt modelId="{6DCBE91C-B225-4B1F-A665-2B64E9D7479C}" type="pres">
      <dgm:prSet presAssocID="{A4C066F1-0E7B-43BC-A14D-B401A613FF6B}" presName="Name0" presStyleCnt="0">
        <dgm:presLayoutVars>
          <dgm:dir/>
          <dgm:animLvl val="lvl"/>
          <dgm:resizeHandles val="exact"/>
        </dgm:presLayoutVars>
      </dgm:prSet>
      <dgm:spPr/>
    </dgm:pt>
    <dgm:pt modelId="{94A22F50-D083-46FB-A756-993D21084138}" type="pres">
      <dgm:prSet presAssocID="{16D1C4CC-DD4C-4847-957C-72275B353F2A}" presName="Name8" presStyleCnt="0"/>
      <dgm:spPr/>
    </dgm:pt>
    <dgm:pt modelId="{E8485ABF-4BB5-438E-B37D-4659F058ADBC}" type="pres">
      <dgm:prSet presAssocID="{16D1C4CC-DD4C-4847-957C-72275B353F2A}" presName="level" presStyleLbl="node1" presStyleIdx="0" presStyleCnt="2">
        <dgm:presLayoutVars>
          <dgm:chMax val="1"/>
          <dgm:bulletEnabled val="1"/>
        </dgm:presLayoutVars>
      </dgm:prSet>
      <dgm:spPr/>
    </dgm:pt>
    <dgm:pt modelId="{500439C7-5069-49D7-B343-8E37AD718663}" type="pres">
      <dgm:prSet presAssocID="{16D1C4CC-DD4C-4847-957C-72275B353F2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77A12B18-D87F-43BF-A95A-226AB872091F}" type="pres">
      <dgm:prSet presAssocID="{1313262F-E920-4C3B-96B4-E9D9A5CD4261}" presName="Name8" presStyleCnt="0"/>
      <dgm:spPr/>
    </dgm:pt>
    <dgm:pt modelId="{AF30290B-545D-405C-9DE3-480E49D11C45}" type="pres">
      <dgm:prSet presAssocID="{1313262F-E920-4C3B-96B4-E9D9A5CD4261}" presName="level" presStyleLbl="node1" presStyleIdx="1" presStyleCnt="2">
        <dgm:presLayoutVars>
          <dgm:chMax val="1"/>
          <dgm:bulletEnabled val="1"/>
        </dgm:presLayoutVars>
      </dgm:prSet>
      <dgm:spPr/>
    </dgm:pt>
    <dgm:pt modelId="{38824818-199E-48F9-9002-A282235514D2}" type="pres">
      <dgm:prSet presAssocID="{1313262F-E920-4C3B-96B4-E9D9A5CD4261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71797919-8651-446E-A529-5C5861CD5640}" srcId="{A4C066F1-0E7B-43BC-A14D-B401A613FF6B}" destId="{16D1C4CC-DD4C-4847-957C-72275B353F2A}" srcOrd="0" destOrd="0" parTransId="{291AC7AF-7EE8-49EC-BFEB-76E108901B75}" sibTransId="{2F545C89-EC17-44E0-8032-43D311957E98}"/>
    <dgm:cxn modelId="{4D76F431-16FD-45C7-BD64-F6D4B575130B}" type="presOf" srcId="{16D1C4CC-DD4C-4847-957C-72275B353F2A}" destId="{E8485ABF-4BB5-438E-B37D-4659F058ADBC}" srcOrd="0" destOrd="0" presId="urn:microsoft.com/office/officeart/2005/8/layout/pyramid1"/>
    <dgm:cxn modelId="{0D59AA72-2A22-42BA-AE3A-3197B76F95F6}" srcId="{A4C066F1-0E7B-43BC-A14D-B401A613FF6B}" destId="{1313262F-E920-4C3B-96B4-E9D9A5CD4261}" srcOrd="1" destOrd="0" parTransId="{5F34E371-7CF9-41E8-8399-55A3EF1E4DB6}" sibTransId="{76FA1A04-E804-4C9C-B1DC-DA514E4DE811}"/>
    <dgm:cxn modelId="{B6408E80-CDA2-4B40-8CD8-2E086456AC54}" type="presOf" srcId="{1313262F-E920-4C3B-96B4-E9D9A5CD4261}" destId="{AF30290B-545D-405C-9DE3-480E49D11C45}" srcOrd="0" destOrd="0" presId="urn:microsoft.com/office/officeart/2005/8/layout/pyramid1"/>
    <dgm:cxn modelId="{7FB464B5-670E-437F-B6FE-DFDC01D616F4}" type="presOf" srcId="{1313262F-E920-4C3B-96B4-E9D9A5CD4261}" destId="{38824818-199E-48F9-9002-A282235514D2}" srcOrd="1" destOrd="0" presId="urn:microsoft.com/office/officeart/2005/8/layout/pyramid1"/>
    <dgm:cxn modelId="{FA0896CE-3C41-4AEA-8468-22A2851AFC56}" type="presOf" srcId="{16D1C4CC-DD4C-4847-957C-72275B353F2A}" destId="{500439C7-5069-49D7-B343-8E37AD718663}" srcOrd="1" destOrd="0" presId="urn:microsoft.com/office/officeart/2005/8/layout/pyramid1"/>
    <dgm:cxn modelId="{754EECFA-3560-450D-B0F2-5182F3859DB4}" type="presOf" srcId="{A4C066F1-0E7B-43BC-A14D-B401A613FF6B}" destId="{6DCBE91C-B225-4B1F-A665-2B64E9D7479C}" srcOrd="0" destOrd="0" presId="urn:microsoft.com/office/officeart/2005/8/layout/pyramid1"/>
    <dgm:cxn modelId="{FE51D85E-D180-41E7-BAF8-8A82F7BD5EC6}" type="presParOf" srcId="{6DCBE91C-B225-4B1F-A665-2B64E9D7479C}" destId="{94A22F50-D083-46FB-A756-993D21084138}" srcOrd="0" destOrd="0" presId="urn:microsoft.com/office/officeart/2005/8/layout/pyramid1"/>
    <dgm:cxn modelId="{9528D96F-857F-40D6-A519-376A6B84B58D}" type="presParOf" srcId="{94A22F50-D083-46FB-A756-993D21084138}" destId="{E8485ABF-4BB5-438E-B37D-4659F058ADBC}" srcOrd="0" destOrd="0" presId="urn:microsoft.com/office/officeart/2005/8/layout/pyramid1"/>
    <dgm:cxn modelId="{6D992128-9C04-4C8F-87DC-559D6F42D8CD}" type="presParOf" srcId="{94A22F50-D083-46FB-A756-993D21084138}" destId="{500439C7-5069-49D7-B343-8E37AD718663}" srcOrd="1" destOrd="0" presId="urn:microsoft.com/office/officeart/2005/8/layout/pyramid1"/>
    <dgm:cxn modelId="{6C4A8E18-EC00-4E1A-B1FB-1702658DC36F}" type="presParOf" srcId="{6DCBE91C-B225-4B1F-A665-2B64E9D7479C}" destId="{77A12B18-D87F-43BF-A95A-226AB872091F}" srcOrd="1" destOrd="0" presId="urn:microsoft.com/office/officeart/2005/8/layout/pyramid1"/>
    <dgm:cxn modelId="{8C2D5FD4-EADA-4DE9-AF87-718B45DE87CD}" type="presParOf" srcId="{77A12B18-D87F-43BF-A95A-226AB872091F}" destId="{AF30290B-545D-405C-9DE3-480E49D11C45}" srcOrd="0" destOrd="0" presId="urn:microsoft.com/office/officeart/2005/8/layout/pyramid1"/>
    <dgm:cxn modelId="{9E0FBC88-02D6-41D8-B93F-E36AF16C0762}" type="presParOf" srcId="{77A12B18-D87F-43BF-A95A-226AB872091F}" destId="{38824818-199E-48F9-9002-A282235514D2}" srcOrd="1" destOrd="0" presId="urn:microsoft.com/office/officeart/2005/8/layout/pyramid1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4C066F1-0E7B-43BC-A14D-B401A613FF6B}" type="doc">
      <dgm:prSet loTypeId="urn:microsoft.com/office/officeart/2005/8/layout/pyramid1" loCatId="pyramid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6D1C4CC-DD4C-4847-957C-72275B353F2A}">
      <dgm:prSet phldrT="[Text]" phldr="0" custT="1"/>
      <dgm:spPr>
        <a:noFill/>
        <a:ln>
          <a:solidFill>
            <a:srgbClr val="0070C0"/>
          </a:solidFill>
        </a:ln>
      </dgm:spPr>
      <dgm:t>
        <a:bodyPr/>
        <a:lstStyle/>
        <a:p>
          <a:r>
            <a:rPr lang="en-US" sz="1600"/>
            <a:t>AI</a:t>
          </a:r>
          <a:endParaRPr lang="en-US" sz="6300"/>
        </a:p>
      </dgm:t>
    </dgm:pt>
    <dgm:pt modelId="{291AC7AF-7EE8-49EC-BFEB-76E108901B75}" type="parTrans" cxnId="{71797919-8651-446E-A529-5C5861CD5640}">
      <dgm:prSet/>
      <dgm:spPr/>
      <dgm:t>
        <a:bodyPr/>
        <a:lstStyle/>
        <a:p>
          <a:endParaRPr lang="en-US"/>
        </a:p>
      </dgm:t>
    </dgm:pt>
    <dgm:pt modelId="{2F545C89-EC17-44E0-8032-43D311957E98}" type="sibTrans" cxnId="{71797919-8651-446E-A529-5C5861CD5640}">
      <dgm:prSet/>
      <dgm:spPr/>
      <dgm:t>
        <a:bodyPr/>
        <a:lstStyle/>
        <a:p>
          <a:endParaRPr lang="en-US"/>
        </a:p>
      </dgm:t>
    </dgm:pt>
    <dgm:pt modelId="{1313262F-E920-4C3B-96B4-E9D9A5CD4261}">
      <dgm:prSet phldrT="[Text]" phldr="0"/>
      <dgm:spPr>
        <a:noFill/>
        <a:ln>
          <a:solidFill>
            <a:srgbClr val="0070C0"/>
          </a:solidFill>
        </a:ln>
      </dgm:spPr>
      <dgm:t>
        <a:bodyPr/>
        <a:lstStyle/>
        <a:p>
          <a:r>
            <a:rPr lang="en-US"/>
            <a:t>Governance</a:t>
          </a:r>
        </a:p>
        <a:p>
          <a:r>
            <a:rPr lang="en-US"/>
            <a:t>Committees</a:t>
          </a:r>
        </a:p>
      </dgm:t>
    </dgm:pt>
    <dgm:pt modelId="{5F34E371-7CF9-41E8-8399-55A3EF1E4DB6}" type="parTrans" cxnId="{0D59AA72-2A22-42BA-AE3A-3197B76F95F6}">
      <dgm:prSet/>
      <dgm:spPr/>
      <dgm:t>
        <a:bodyPr/>
        <a:lstStyle/>
        <a:p>
          <a:endParaRPr lang="en-US"/>
        </a:p>
      </dgm:t>
    </dgm:pt>
    <dgm:pt modelId="{76FA1A04-E804-4C9C-B1DC-DA514E4DE811}" type="sibTrans" cxnId="{0D59AA72-2A22-42BA-AE3A-3197B76F95F6}">
      <dgm:prSet/>
      <dgm:spPr/>
      <dgm:t>
        <a:bodyPr/>
        <a:lstStyle/>
        <a:p>
          <a:endParaRPr lang="en-US"/>
        </a:p>
      </dgm:t>
    </dgm:pt>
    <dgm:pt modelId="{6DCBE91C-B225-4B1F-A665-2B64E9D7479C}" type="pres">
      <dgm:prSet presAssocID="{A4C066F1-0E7B-43BC-A14D-B401A613FF6B}" presName="Name0" presStyleCnt="0">
        <dgm:presLayoutVars>
          <dgm:dir/>
          <dgm:animLvl val="lvl"/>
          <dgm:resizeHandles val="exact"/>
        </dgm:presLayoutVars>
      </dgm:prSet>
      <dgm:spPr/>
    </dgm:pt>
    <dgm:pt modelId="{94A22F50-D083-46FB-A756-993D21084138}" type="pres">
      <dgm:prSet presAssocID="{16D1C4CC-DD4C-4847-957C-72275B353F2A}" presName="Name8" presStyleCnt="0"/>
      <dgm:spPr/>
    </dgm:pt>
    <dgm:pt modelId="{E8485ABF-4BB5-438E-B37D-4659F058ADBC}" type="pres">
      <dgm:prSet presAssocID="{16D1C4CC-DD4C-4847-957C-72275B353F2A}" presName="level" presStyleLbl="node1" presStyleIdx="0" presStyleCnt="2">
        <dgm:presLayoutVars>
          <dgm:chMax val="1"/>
          <dgm:bulletEnabled val="1"/>
        </dgm:presLayoutVars>
      </dgm:prSet>
      <dgm:spPr/>
    </dgm:pt>
    <dgm:pt modelId="{500439C7-5069-49D7-B343-8E37AD718663}" type="pres">
      <dgm:prSet presAssocID="{16D1C4CC-DD4C-4847-957C-72275B353F2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77A12B18-D87F-43BF-A95A-226AB872091F}" type="pres">
      <dgm:prSet presAssocID="{1313262F-E920-4C3B-96B4-E9D9A5CD4261}" presName="Name8" presStyleCnt="0"/>
      <dgm:spPr/>
    </dgm:pt>
    <dgm:pt modelId="{AF30290B-545D-405C-9DE3-480E49D11C45}" type="pres">
      <dgm:prSet presAssocID="{1313262F-E920-4C3B-96B4-E9D9A5CD4261}" presName="level" presStyleLbl="node1" presStyleIdx="1" presStyleCnt="2">
        <dgm:presLayoutVars>
          <dgm:chMax val="1"/>
          <dgm:bulletEnabled val="1"/>
        </dgm:presLayoutVars>
      </dgm:prSet>
      <dgm:spPr/>
    </dgm:pt>
    <dgm:pt modelId="{38824818-199E-48F9-9002-A282235514D2}" type="pres">
      <dgm:prSet presAssocID="{1313262F-E920-4C3B-96B4-E9D9A5CD4261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71797919-8651-446E-A529-5C5861CD5640}" srcId="{A4C066F1-0E7B-43BC-A14D-B401A613FF6B}" destId="{16D1C4CC-DD4C-4847-957C-72275B353F2A}" srcOrd="0" destOrd="0" parTransId="{291AC7AF-7EE8-49EC-BFEB-76E108901B75}" sibTransId="{2F545C89-EC17-44E0-8032-43D311957E98}"/>
    <dgm:cxn modelId="{4D76F431-16FD-45C7-BD64-F6D4B575130B}" type="presOf" srcId="{16D1C4CC-DD4C-4847-957C-72275B353F2A}" destId="{E8485ABF-4BB5-438E-B37D-4659F058ADBC}" srcOrd="0" destOrd="0" presId="urn:microsoft.com/office/officeart/2005/8/layout/pyramid1"/>
    <dgm:cxn modelId="{0D59AA72-2A22-42BA-AE3A-3197B76F95F6}" srcId="{A4C066F1-0E7B-43BC-A14D-B401A613FF6B}" destId="{1313262F-E920-4C3B-96B4-E9D9A5CD4261}" srcOrd="1" destOrd="0" parTransId="{5F34E371-7CF9-41E8-8399-55A3EF1E4DB6}" sibTransId="{76FA1A04-E804-4C9C-B1DC-DA514E4DE811}"/>
    <dgm:cxn modelId="{B6408E80-CDA2-4B40-8CD8-2E086456AC54}" type="presOf" srcId="{1313262F-E920-4C3B-96B4-E9D9A5CD4261}" destId="{AF30290B-545D-405C-9DE3-480E49D11C45}" srcOrd="0" destOrd="0" presId="urn:microsoft.com/office/officeart/2005/8/layout/pyramid1"/>
    <dgm:cxn modelId="{7FB464B5-670E-437F-B6FE-DFDC01D616F4}" type="presOf" srcId="{1313262F-E920-4C3B-96B4-E9D9A5CD4261}" destId="{38824818-199E-48F9-9002-A282235514D2}" srcOrd="1" destOrd="0" presId="urn:microsoft.com/office/officeart/2005/8/layout/pyramid1"/>
    <dgm:cxn modelId="{FA0896CE-3C41-4AEA-8468-22A2851AFC56}" type="presOf" srcId="{16D1C4CC-DD4C-4847-957C-72275B353F2A}" destId="{500439C7-5069-49D7-B343-8E37AD718663}" srcOrd="1" destOrd="0" presId="urn:microsoft.com/office/officeart/2005/8/layout/pyramid1"/>
    <dgm:cxn modelId="{754EECFA-3560-450D-B0F2-5182F3859DB4}" type="presOf" srcId="{A4C066F1-0E7B-43BC-A14D-B401A613FF6B}" destId="{6DCBE91C-B225-4B1F-A665-2B64E9D7479C}" srcOrd="0" destOrd="0" presId="urn:microsoft.com/office/officeart/2005/8/layout/pyramid1"/>
    <dgm:cxn modelId="{FE51D85E-D180-41E7-BAF8-8A82F7BD5EC6}" type="presParOf" srcId="{6DCBE91C-B225-4B1F-A665-2B64E9D7479C}" destId="{94A22F50-D083-46FB-A756-993D21084138}" srcOrd="0" destOrd="0" presId="urn:microsoft.com/office/officeart/2005/8/layout/pyramid1"/>
    <dgm:cxn modelId="{9528D96F-857F-40D6-A519-376A6B84B58D}" type="presParOf" srcId="{94A22F50-D083-46FB-A756-993D21084138}" destId="{E8485ABF-4BB5-438E-B37D-4659F058ADBC}" srcOrd="0" destOrd="0" presId="urn:microsoft.com/office/officeart/2005/8/layout/pyramid1"/>
    <dgm:cxn modelId="{6D992128-9C04-4C8F-87DC-559D6F42D8CD}" type="presParOf" srcId="{94A22F50-D083-46FB-A756-993D21084138}" destId="{500439C7-5069-49D7-B343-8E37AD718663}" srcOrd="1" destOrd="0" presId="urn:microsoft.com/office/officeart/2005/8/layout/pyramid1"/>
    <dgm:cxn modelId="{6C4A8E18-EC00-4E1A-B1FB-1702658DC36F}" type="presParOf" srcId="{6DCBE91C-B225-4B1F-A665-2B64E9D7479C}" destId="{77A12B18-D87F-43BF-A95A-226AB872091F}" srcOrd="1" destOrd="0" presId="urn:microsoft.com/office/officeart/2005/8/layout/pyramid1"/>
    <dgm:cxn modelId="{8C2D5FD4-EADA-4DE9-AF87-718B45DE87CD}" type="presParOf" srcId="{77A12B18-D87F-43BF-A95A-226AB872091F}" destId="{AF30290B-545D-405C-9DE3-480E49D11C45}" srcOrd="0" destOrd="0" presId="urn:microsoft.com/office/officeart/2005/8/layout/pyramid1"/>
    <dgm:cxn modelId="{9E0FBC88-02D6-41D8-B93F-E36AF16C0762}" type="presParOf" srcId="{77A12B18-D87F-43BF-A95A-226AB872091F}" destId="{38824818-199E-48F9-9002-A282235514D2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485ABF-4BB5-438E-B37D-4659F058ADBC}">
      <dsp:nvSpPr>
        <dsp:cNvPr id="0" name=""/>
        <dsp:cNvSpPr/>
      </dsp:nvSpPr>
      <dsp:spPr>
        <a:xfrm>
          <a:off x="376428" y="0"/>
          <a:ext cx="752857" cy="784830"/>
        </a:xfrm>
        <a:prstGeom prst="trapezoid">
          <a:avLst>
            <a:gd name="adj" fmla="val 50000"/>
          </a:avLst>
        </a:prstGeom>
        <a:noFill/>
        <a:ln w="190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AI</a:t>
          </a:r>
          <a:endParaRPr lang="en-US" sz="6300" kern="1200"/>
        </a:p>
      </dsp:txBody>
      <dsp:txXfrm>
        <a:off x="376428" y="0"/>
        <a:ext cx="752857" cy="784830"/>
      </dsp:txXfrm>
    </dsp:sp>
    <dsp:sp modelId="{AF30290B-545D-405C-9DE3-480E49D11C45}">
      <dsp:nvSpPr>
        <dsp:cNvPr id="0" name=""/>
        <dsp:cNvSpPr/>
      </dsp:nvSpPr>
      <dsp:spPr>
        <a:xfrm>
          <a:off x="0" y="784830"/>
          <a:ext cx="1505714" cy="784830"/>
        </a:xfrm>
        <a:prstGeom prst="trapezoid">
          <a:avLst>
            <a:gd name="adj" fmla="val 47963"/>
          </a:avLst>
        </a:prstGeom>
        <a:noFill/>
        <a:ln w="190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Committees</a:t>
          </a:r>
        </a:p>
      </dsp:txBody>
      <dsp:txXfrm>
        <a:off x="263499" y="784830"/>
        <a:ext cx="978714" cy="7848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485ABF-4BB5-438E-B37D-4659F058ADBC}">
      <dsp:nvSpPr>
        <dsp:cNvPr id="0" name=""/>
        <dsp:cNvSpPr/>
      </dsp:nvSpPr>
      <dsp:spPr>
        <a:xfrm>
          <a:off x="376428" y="0"/>
          <a:ext cx="752857" cy="784830"/>
        </a:xfrm>
        <a:prstGeom prst="trapezoid">
          <a:avLst>
            <a:gd name="adj" fmla="val 50000"/>
          </a:avLst>
        </a:prstGeom>
        <a:noFill/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AI</a:t>
          </a:r>
          <a:endParaRPr lang="en-US" sz="6300" kern="1200"/>
        </a:p>
      </dsp:txBody>
      <dsp:txXfrm>
        <a:off x="376428" y="0"/>
        <a:ext cx="752857" cy="784830"/>
      </dsp:txXfrm>
    </dsp:sp>
    <dsp:sp modelId="{AF30290B-545D-405C-9DE3-480E49D11C45}">
      <dsp:nvSpPr>
        <dsp:cNvPr id="0" name=""/>
        <dsp:cNvSpPr/>
      </dsp:nvSpPr>
      <dsp:spPr>
        <a:xfrm>
          <a:off x="0" y="784830"/>
          <a:ext cx="1505714" cy="784830"/>
        </a:xfrm>
        <a:prstGeom prst="trapezoid">
          <a:avLst>
            <a:gd name="adj" fmla="val 47963"/>
          </a:avLst>
        </a:prstGeom>
        <a:noFill/>
        <a:ln w="19050" cap="flat" cmpd="sng" algn="ctr">
          <a:solidFill>
            <a:srgbClr val="0070C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Governance</a:t>
          </a:r>
        </a:p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Committees</a:t>
          </a:r>
        </a:p>
      </dsp:txBody>
      <dsp:txXfrm>
        <a:off x="263499" y="784830"/>
        <a:ext cx="978714" cy="7848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3164" tIns="46582" rIns="93164" bIns="46582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3164" tIns="46582" rIns="93164" bIns="46582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fld id="{788CAC35-BD26-4ECA-AFDB-5532A17DC53A}" type="datetimeFigureOut">
              <a:rPr lang="en-US"/>
              <a:pPr>
                <a:defRPr/>
              </a:pPr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3164" tIns="46582" rIns="93164" bIns="46582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wrap="square" lIns="93164" tIns="46582" rIns="93164" bIns="46582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B2994AE-E0D7-4EE8-9D6F-CE80E4A67B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237887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3164" tIns="46582" rIns="93164" bIns="46582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3164" tIns="46582" rIns="93164" bIns="46582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CA3040FE-4584-4B42-AD14-928E8EFC8A60}" type="datetimeFigureOut">
              <a:rPr lang="en-US"/>
              <a:pPr>
                <a:defRPr/>
              </a:pPr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64" tIns="46582" rIns="93164" bIns="46582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</p:spPr>
        <p:txBody>
          <a:bodyPr vert="horz" lIns="93164" tIns="46582" rIns="93164" bIns="46582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3164" tIns="46582" rIns="93164" bIns="46582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wrap="square" lIns="93164" tIns="46582" rIns="93164" bIns="46582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6CBEA11-3572-4387-8B92-B95656DB9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226682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1C47-17CA-052D-5E34-09F8F03F7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0B34F-EDB4-8FE0-4621-C2682D56B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2902E5-0563-BEEF-9A59-99695B99C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348E33-A57D-77F8-4F03-00BE713A2C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F67CB8-EFE9-4FFB-B07C-55CCB25F757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9085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3A6A3-0C4F-5184-8B5E-5202FA1F7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BC3F0-3EE3-0902-9B43-6A8061F25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771C0-4777-7435-6AC4-FD35BD8882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6C65B0-7D84-C536-0621-76C2D3335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BF67CB8-EFE9-4FFB-B07C-55CCB25F757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57874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>
            <a:cxnSpLocks/>
          </p:cNvCxnSpPr>
          <p:nvPr/>
        </p:nvCxnSpPr>
        <p:spPr>
          <a:xfrm>
            <a:off x="5689600" y="4495800"/>
            <a:ext cx="1625600" cy="0"/>
          </a:xfrm>
          <a:prstGeom prst="line">
            <a:avLst/>
          </a:prstGeom>
          <a:ln w="12700" cmpd="sng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588000" y="682649"/>
            <a:ext cx="5994400" cy="3508339"/>
          </a:xfrm>
        </p:spPr>
        <p:txBody>
          <a:bodyPr anchor="b"/>
          <a:lstStyle>
            <a:lvl1pPr algn="l">
              <a:defRPr sz="5400" b="0" spc="0">
                <a:solidFill>
                  <a:schemeClr val="bg1"/>
                </a:solidFill>
                <a:latin typeface="Calibri" panose="020F0502020204030204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88000" y="4572001"/>
            <a:ext cx="5080000" cy="1066799"/>
          </a:xfrm>
        </p:spPr>
        <p:txBody>
          <a:bodyPr/>
          <a:lstStyle>
            <a:lvl1pPr marL="0" indent="0" algn="l">
              <a:buNone/>
              <a:defRPr sz="1100" b="0" spc="0">
                <a:solidFill>
                  <a:schemeClr val="bg1"/>
                </a:solidFill>
                <a:latin typeface="Calibri" panose="020F0502020204030204" pitchFamily="34" charset="0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9D56DA0-B90E-4146-834B-7C07AEF5B85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0271" y="344133"/>
            <a:ext cx="4673600" cy="617219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FCFBB4-D162-2225-1288-E77632D7AE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l"/>
            <a:fld id="{1DE87FD1-75B5-47E4-A5E9-E1601ADB60FC}" type="slidenum">
              <a:rPr lang="en-US" altLang="en-US" smtClean="0"/>
              <a:pPr algn="l"/>
              <a:t>‹#›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324B26-3488-3B1A-DB7D-8D095C0F20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686800" y="6072992"/>
            <a:ext cx="3215937" cy="62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538193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>
            <a:cxnSpLocks/>
          </p:cNvCxnSpPr>
          <p:nvPr/>
        </p:nvCxnSpPr>
        <p:spPr>
          <a:xfrm>
            <a:off x="609600" y="5715001"/>
            <a:ext cx="1625600" cy="0"/>
          </a:xfrm>
          <a:prstGeom prst="line">
            <a:avLst/>
          </a:prstGeom>
          <a:ln w="12700" cmpd="sng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3810009"/>
            <a:ext cx="11074400" cy="1809127"/>
          </a:xfrm>
        </p:spPr>
        <p:txBody>
          <a:bodyPr anchor="b"/>
          <a:lstStyle>
            <a:lvl1pPr algn="l">
              <a:defRPr sz="5400" b="0" spc="0">
                <a:solidFill>
                  <a:schemeClr val="bg1"/>
                </a:solidFill>
                <a:latin typeface="Calibri" panose="020F0502020204030204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8000" y="5791202"/>
            <a:ext cx="5080000" cy="722666"/>
          </a:xfrm>
        </p:spPr>
        <p:txBody>
          <a:bodyPr/>
          <a:lstStyle>
            <a:lvl1pPr marL="0" indent="0" algn="l">
              <a:buNone/>
              <a:defRPr sz="1100" b="0" spc="0">
                <a:solidFill>
                  <a:schemeClr val="bg1"/>
                </a:solidFill>
                <a:latin typeface="Calibri" panose="020F0502020204030204" pitchFamily="34" charset="0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9D56DA0-B90E-4146-834B-7C07AEF5B85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0270" y="344133"/>
            <a:ext cx="11012129" cy="338967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125025-55C7-0748-FE1A-851533DB13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686800" y="6072992"/>
            <a:ext cx="3215937" cy="62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2001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itle 2">
            <a:extLst>
              <a:ext uri="{FF2B5EF4-FFF2-40B4-BE49-F238E27FC236}">
                <a16:creationId xmlns:a16="http://schemas.microsoft.com/office/drawing/2014/main" id="{61205B7D-7392-436C-A04A-85702DEA24DF}"/>
              </a:ext>
            </a:extLst>
          </p:cNvPr>
          <p:cNvSpPr>
            <a:spLocks noGrp="1"/>
          </p:cNvSpPr>
          <p:nvPr>
            <p:ph type="subTitle" idx="11"/>
          </p:nvPr>
        </p:nvSpPr>
        <p:spPr>
          <a:xfrm>
            <a:off x="1524000" y="953734"/>
            <a:ext cx="5080000" cy="722666"/>
          </a:xfrm>
        </p:spPr>
        <p:txBody>
          <a:bodyPr anchor="b" anchorCtr="0"/>
          <a:lstStyle>
            <a:lvl1pPr marL="0" indent="0" algn="l">
              <a:buNone/>
              <a:defRPr sz="1800" b="0" spc="0">
                <a:solidFill>
                  <a:schemeClr val="bg1"/>
                </a:solidFill>
                <a:latin typeface="Calibri" panose="020F0502020204030204" pitchFamily="34" charset="0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401" y="1633406"/>
            <a:ext cx="9448800" cy="3548194"/>
          </a:xfrm>
        </p:spPr>
        <p:txBody>
          <a:bodyPr anchor="t" anchorCtr="0"/>
          <a:lstStyle>
            <a:lvl1pPr algn="l">
              <a:defRPr sz="4800" b="0" cap="all">
                <a:solidFill>
                  <a:schemeClr val="bg1"/>
                </a:solidFill>
                <a:latin typeface="Calibri" panose="020F0502020204030204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086F6F-C9FD-6644-8CAE-3EBD200A8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686800" y="6072992"/>
            <a:ext cx="3215937" cy="62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943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/>
          <a:lstStyle>
            <a:lvl1pPr marL="228600" indent="-228600">
              <a:buClr>
                <a:schemeClr val="tx2"/>
              </a:buClr>
              <a:buSzPct val="90000"/>
              <a:buFont typeface="Wingdings" pitchFamily="2" charset="2"/>
              <a:buChar char="§"/>
              <a:defRPr>
                <a:latin typeface="Calibri" panose="020F0502020204030204" pitchFamily="34" charset="0"/>
                <a:cs typeface="Arial" pitchFamily="34" charset="0"/>
              </a:defRPr>
            </a:lvl1pPr>
            <a:lvl2pPr>
              <a:defRPr sz="2400">
                <a:solidFill>
                  <a:srgbClr val="404040"/>
                </a:solidFill>
                <a:latin typeface="Calibri" panose="020F0502020204030204" pitchFamily="34" charset="0"/>
                <a:cs typeface="Arial" pitchFamily="34" charset="0"/>
              </a:defRPr>
            </a:lvl2pPr>
            <a:lvl3pPr marL="571500" indent="-228600">
              <a:defRPr b="0">
                <a:latin typeface="Calibri" panose="020F0502020204030204" pitchFamily="34" charset="0"/>
                <a:cs typeface="Arial" pitchFamily="34" charset="0"/>
              </a:defRPr>
            </a:lvl3pPr>
            <a:lvl4pPr>
              <a:defRPr>
                <a:latin typeface="Calibri" panose="020F0502020204030204" pitchFamily="34" charset="0"/>
                <a:cs typeface="Arial" pitchFamily="34" charset="0"/>
              </a:defRPr>
            </a:lvl4pPr>
            <a:lvl5pPr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</a:lstStyle>
          <a:p>
            <a:fld id="{690B04E9-1A21-4C0B-8BF6-104EC9B70106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144332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2671DEC-E5B8-4CB0-BF7C-32ECAB693D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1"/>
          </p:nvPr>
        </p:nvSpPr>
        <p:spPr>
          <a:xfrm>
            <a:off x="0" y="0"/>
            <a:ext cx="5588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6096000" y="338260"/>
            <a:ext cx="4876800" cy="609600"/>
          </a:xfrm>
        </p:spPr>
        <p:txBody>
          <a:bodyPr/>
          <a:lstStyle>
            <a:lvl1pPr>
              <a:defRPr sz="2800">
                <a:latin typeface="Calibri" panose="020F0502020204030204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 noRot="1" noMove="1" noResize="1" noEditPoints="1" noAdjustHandles="1" noChangeArrowheads="1" noChangeShapeType="1"/>
          </p:cNvSpPr>
          <p:nvPr>
            <p:ph sz="half" idx="1"/>
          </p:nvPr>
        </p:nvSpPr>
        <p:spPr>
          <a:xfrm>
            <a:off x="6096000" y="1219201"/>
            <a:ext cx="4876800" cy="4800600"/>
          </a:xfrm>
        </p:spPr>
        <p:txBody>
          <a:bodyPr/>
          <a:lstStyle>
            <a:lvl1pPr>
              <a:defRPr sz="2400">
                <a:latin typeface="Calibri" panose="020F0502020204030204" pitchFamily="34" charset="0"/>
                <a:cs typeface="Arial" pitchFamily="34" charset="0"/>
              </a:defRPr>
            </a:lvl1pPr>
            <a:lvl2pPr>
              <a:defRPr sz="2400">
                <a:latin typeface="Calibri" panose="020F0502020204030204" pitchFamily="34" charset="0"/>
                <a:cs typeface="Arial" pitchFamily="34" charset="0"/>
              </a:defRPr>
            </a:lvl2pPr>
            <a:lvl3pPr>
              <a:defRPr sz="2000">
                <a:latin typeface="Calibri" panose="020F0502020204030204" pitchFamily="34" charset="0"/>
                <a:cs typeface="Arial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Arial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Arial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28BB579-E5BD-49D9-9D83-F8D82CA5C0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07201" y="6264276"/>
            <a:ext cx="931124" cy="365125"/>
          </a:xfrm>
        </p:spPr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</a:lstStyle>
          <a:p>
            <a:fld id="{690B04E9-1A21-4C0B-8BF6-104EC9B70106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40788800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2671DEC-E5B8-4CB0-BF7C-32ECAB693D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1"/>
          </p:nvPr>
        </p:nvSpPr>
        <p:spPr>
          <a:xfrm>
            <a:off x="6705600" y="533401"/>
            <a:ext cx="4876800" cy="54864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63600" y="533400"/>
            <a:ext cx="4876800" cy="609600"/>
          </a:xfrm>
        </p:spPr>
        <p:txBody>
          <a:bodyPr/>
          <a:lstStyle>
            <a:lvl1pPr>
              <a:defRPr sz="2800">
                <a:latin typeface="Calibri" panose="020F0502020204030204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 noRot="1" noMove="1" noResize="1" noEditPoints="1" noAdjustHandles="1" noChangeArrowheads="1" noChangeShapeType="1"/>
          </p:cNvSpPr>
          <p:nvPr>
            <p:ph sz="half" idx="1"/>
          </p:nvPr>
        </p:nvSpPr>
        <p:spPr>
          <a:xfrm>
            <a:off x="863600" y="1425140"/>
            <a:ext cx="4876800" cy="4594661"/>
          </a:xfrm>
        </p:spPr>
        <p:txBody>
          <a:bodyPr/>
          <a:lstStyle>
            <a:lvl1pPr>
              <a:defRPr sz="2400">
                <a:latin typeface="Calibri" panose="020F0502020204030204" pitchFamily="34" charset="0"/>
                <a:cs typeface="Arial" pitchFamily="34" charset="0"/>
              </a:defRPr>
            </a:lvl1pPr>
            <a:lvl2pPr>
              <a:defRPr sz="2400">
                <a:latin typeface="Calibri" panose="020F0502020204030204" pitchFamily="34" charset="0"/>
                <a:cs typeface="Arial" pitchFamily="34" charset="0"/>
              </a:defRPr>
            </a:lvl2pPr>
            <a:lvl3pPr>
              <a:defRPr sz="2000">
                <a:latin typeface="Calibri" panose="020F0502020204030204" pitchFamily="34" charset="0"/>
                <a:cs typeface="Arial" pitchFamily="34" charset="0"/>
              </a:defRPr>
            </a:lvl3pPr>
            <a:lvl4pPr>
              <a:defRPr sz="1800">
                <a:latin typeface="Calibri" panose="020F0502020204030204" pitchFamily="34" charset="0"/>
                <a:cs typeface="Arial" pitchFamily="34" charset="0"/>
              </a:defRPr>
            </a:lvl4pPr>
            <a:lvl5pPr>
              <a:defRPr sz="1800">
                <a:latin typeface="Calibri" panose="020F0502020204030204" pitchFamily="34" charset="0"/>
                <a:cs typeface="Arial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28BB579-E5BD-49D9-9D83-F8D82CA5C0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14401" y="6172201"/>
            <a:ext cx="931124" cy="365125"/>
          </a:xfrm>
        </p:spPr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</a:lstStyle>
          <a:p>
            <a:fld id="{690B04E9-1A21-4C0B-8BF6-104EC9B70106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9343360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238CA89-7353-4F3A-AC37-89E42AD6A6B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2602730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</a:lstStyle>
          <a:p>
            <a:fld id="{522BAEBA-873C-4D9F-9CF2-A625D6AE2312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81962225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17014-3E46-9539-2E4A-3E6D2641B2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B7D66F-9179-31E4-AAD0-6D33DE2FFB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7B97E-253B-91D2-90A3-8F2413D18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84ECE-F1CE-8DE6-9AB4-59974D374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E1264-6501-A090-96F5-4454E8661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660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4B729-5187-39C3-F022-FA85892E0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44561-41CA-9BD9-B854-0E13BC44A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43543-7C99-DD35-6934-C1BE3949F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AA65E6-7EE9-80D5-35E4-73A1BE44E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E6555-9D15-BCC6-D621-5EFABE701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40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CB279-C810-244C-E80A-E11D2786F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6C8C9-7ACF-5850-1FDD-F59B201DE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B8DDF-B8C7-C0F6-E5B6-BD0E11464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A7369-CD97-1267-DBB4-A7D31707D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3D0E5-A0C1-A9C4-09D2-E0D8AF557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318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A6DFE-F398-90B0-054D-7330C8B01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7CCF9-5DD1-BEFC-18C4-D7F6806670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F7BB24-B127-E0AC-4FC6-317C405740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96529-F421-0F2D-C9CD-0DAA517C2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5CDFB-4CEF-62DA-98B0-609579903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734CB3-9FEF-F034-CA4E-8464F2689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7457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C64E6-CDF2-E2B1-CC28-AF5E441D5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4CA05-7DDB-09F5-F5BE-F8613E1078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53F655-F90D-2566-CCBC-0764C0BB1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86E215-C1EE-5CEE-E806-8D46A8AA8D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F34F43-ADED-4684-D6D0-C690E59155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AA5204-7A46-3218-5C5D-7FEAEADFA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352965-5097-FC5F-3E45-12343A6FE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451EA9-3436-EE82-396C-26E33DEAF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1970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E1A38-4837-B41E-0E92-4CF0C93CD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DB0411-C7E3-9331-B078-605BECD3F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220649-7B60-3AA0-A4D4-8D5D433CB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2BD7C-F335-C78C-9106-577A1634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268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501411-1CD2-6A9E-F31F-7A887FA48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92D332-63DA-B9DB-FED4-83F7E89AB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63042E-B9B4-57D8-15EC-ABEDB5B48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512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12C1F-DF03-8332-7723-4983D66FB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36BB0-CE1F-BE7B-B26C-6B291C466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E93B04-42C2-1C47-8952-65C3BB0C4C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AFA39-9EBF-1653-9D8A-1521E9E2B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5A06FB-1C5E-F83B-E05D-DD4B99FE3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8C2EA9-2743-3264-1A09-E5429B110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376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5EF80-AE9D-20E4-45E7-2C56B6711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FB2E5C-2D14-4700-CF6E-9D86CA5FC3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139AE6-67FC-2665-87CF-ECC1EDC5E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66D46D-F5A6-E035-99F3-B828DA85F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AE06B-DCE4-8730-7225-F7D6384DE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021823-1492-1F1D-8DB1-4B42B95BB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809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62B89-3A0D-DF2C-6AF6-D7BDFEBC0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A6C9D7-BBB5-9A0A-B6EB-C8A4891F5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16E49-AB59-DE73-7CAE-608E43AE9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ADBB7-9960-7D78-A16C-C1AE58449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7B0A4-E2AD-4B01-59AC-1D822C4C5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8017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D63FA1-E718-9DDC-D3C1-F25C8CAA11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BAB71F-70D4-BF5A-E79F-98E39278F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1686B-8E4D-5318-B082-41A896565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9D27B-5194-8073-CADB-AE9AAAD4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81F07-4C4B-1C2C-F203-EDA99C2EF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90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 bwMode="auto">
          <a:xfrm>
            <a:off x="1016000" y="609600"/>
            <a:ext cx="103632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 noRot="1" noMove="1" noResize="1" noEditPoints="1" noAdjustHandles="1" noChangeArrowheads="1" noChangeShapeType="1"/>
          </p:cNvSpPr>
          <p:nvPr>
            <p:ph type="body" idx="1"/>
          </p:nvPr>
        </p:nvSpPr>
        <p:spPr bwMode="auto">
          <a:xfrm>
            <a:off x="1016000" y="1447800"/>
            <a:ext cx="1036320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9277" y="6402467"/>
            <a:ext cx="931124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000" i="1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algn="l"/>
            <a:fld id="{1DE87FD1-75B5-47E4-A5E9-E1601ADB60FC}" type="slidenum">
              <a:rPr lang="en-US" altLang="en-US" smtClean="0"/>
              <a:pPr algn="l"/>
              <a:t>‹#›</a:t>
            </a:fld>
            <a:endParaRPr lang="en-US" alt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81F3BD8-2771-4BC1-3183-508E4E749022}"/>
              </a:ext>
            </a:extLst>
          </p:cNvPr>
          <p:cNvCxnSpPr>
            <a:cxnSpLocks/>
          </p:cNvCxnSpPr>
          <p:nvPr userDrawn="1"/>
        </p:nvCxnSpPr>
        <p:spPr>
          <a:xfrm flipV="1">
            <a:off x="1028818" y="6312056"/>
            <a:ext cx="10337567" cy="1254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6" r:id="rId1"/>
    <p:sldLayoutId id="2147483915" r:id="rId2"/>
    <p:sldLayoutId id="2147483885" r:id="rId3"/>
    <p:sldLayoutId id="2147483884" r:id="rId4"/>
    <p:sldLayoutId id="2147483886" r:id="rId5"/>
    <p:sldLayoutId id="2147483924" r:id="rId6"/>
    <p:sldLayoutId id="2147483888" r:id="rId7"/>
    <p:sldLayoutId id="2147483889" r:id="rId8"/>
  </p:sldLayoutIdLst>
  <p:transition>
    <p:fade/>
  </p:transition>
  <p:hf hdr="0" ftr="0" dt="0"/>
  <p:txStyles>
    <p:titleStyle>
      <a:lvl1pPr algn="l" defTabSz="457200" rtl="0" eaLnBrk="1" fontAlgn="base" hangingPunct="1">
        <a:spcBef>
          <a:spcPct val="0"/>
        </a:spcBef>
        <a:spcAft>
          <a:spcPct val="0"/>
        </a:spcAft>
        <a:defRPr sz="3200" b="0" kern="1200" cap="all" baseline="0">
          <a:solidFill>
            <a:srgbClr val="0077C8"/>
          </a:solidFill>
          <a:latin typeface="Calibri" panose="020F0502020204030204" pitchFamily="34" charset="0"/>
          <a:ea typeface="MS PGothic" pitchFamily="34" charset="-128"/>
          <a:cs typeface="Arial" pitchFamily="34" charset="0"/>
        </a:defRPr>
      </a:lvl1pPr>
      <a:lvl2pPr algn="l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376092"/>
          </a:solidFill>
          <a:latin typeface="Trebuchet MS" pitchFamily="34" charset="0"/>
          <a:ea typeface="MS PGothic" pitchFamily="34" charset="-128"/>
          <a:cs typeface="Arial" pitchFamily="34" charset="0"/>
        </a:defRPr>
      </a:lvl2pPr>
      <a:lvl3pPr algn="l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376092"/>
          </a:solidFill>
          <a:latin typeface="Trebuchet MS" pitchFamily="34" charset="0"/>
          <a:ea typeface="MS PGothic" pitchFamily="34" charset="-128"/>
          <a:cs typeface="Arial" pitchFamily="34" charset="0"/>
        </a:defRPr>
      </a:lvl3pPr>
      <a:lvl4pPr algn="l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376092"/>
          </a:solidFill>
          <a:latin typeface="Trebuchet MS" pitchFamily="34" charset="0"/>
          <a:ea typeface="MS PGothic" pitchFamily="34" charset="-128"/>
          <a:cs typeface="Arial" pitchFamily="34" charset="0"/>
        </a:defRPr>
      </a:lvl4pPr>
      <a:lvl5pPr algn="l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376092"/>
          </a:solidFill>
          <a:latin typeface="Trebuchet MS" pitchFamily="34" charset="0"/>
          <a:ea typeface="MS PGothic" pitchFamily="34" charset="-128"/>
          <a:cs typeface="Arial" pitchFamily="34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Univers 65 Bold" charset="0"/>
          <a:ea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Univers 65 Bold" charset="0"/>
          <a:ea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Univers 65 Bold" charset="0"/>
          <a:ea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Univers 65 Bold" charset="0"/>
          <a:ea typeface="ＭＳ Ｐゴシック" charset="0"/>
        </a:defRPr>
      </a:lvl9pPr>
    </p:titleStyle>
    <p:bodyStyle>
      <a:lvl1pPr marL="285750" indent="-285750" algn="l" defTabSz="457200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9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MS PGothic" pitchFamily="34" charset="-128"/>
          <a:cs typeface="Arial" pitchFamily="34" charset="0"/>
        </a:defRPr>
      </a:lvl1pPr>
      <a:lvl2pPr marL="228600" indent="-228600" algn="l" defTabSz="457200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85000"/>
        <a:buFont typeface="Wingdings" panose="05000000000000000000" pitchFamily="2" charset="2"/>
        <a:buChar char="§"/>
        <a:defRPr sz="2400" b="1" kern="1200">
          <a:solidFill>
            <a:srgbClr val="404040"/>
          </a:solidFill>
          <a:latin typeface="+mn-lt"/>
          <a:ea typeface="MS PGothic" pitchFamily="34" charset="-128"/>
          <a:cs typeface="Arial" pitchFamily="34" charset="0"/>
        </a:defRPr>
      </a:lvl2pPr>
      <a:lvl3pPr marL="571500" indent="-228600" algn="l" defTabSz="457200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rgbClr val="404040"/>
          </a:solidFill>
          <a:latin typeface="+mn-lt"/>
          <a:ea typeface="MS PGothic" pitchFamily="34" charset="-128"/>
          <a:cs typeface="Arial" pitchFamily="34" charset="0"/>
        </a:defRPr>
      </a:lvl3pPr>
      <a:lvl4pPr marL="800100" indent="-228600" algn="l" defTabSz="457200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85000"/>
        <a:buFont typeface="Courier New" panose="02070309020205020404" pitchFamily="49" charset="0"/>
        <a:buChar char="o"/>
        <a:defRPr sz="2000" kern="1200">
          <a:solidFill>
            <a:srgbClr val="404040"/>
          </a:solidFill>
          <a:latin typeface="+mn-lt"/>
          <a:ea typeface="MS PGothic" pitchFamily="34" charset="-128"/>
          <a:cs typeface="Arial" pitchFamily="34" charset="0"/>
        </a:defRPr>
      </a:lvl4pPr>
      <a:lvl5pPr marL="1028700" indent="-228600" algn="l" defTabSz="457200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50000"/>
        <a:buFont typeface="Lucida Grande"/>
        <a:buChar char="▶"/>
        <a:defRPr sz="2000" i="1" kern="1200">
          <a:solidFill>
            <a:srgbClr val="404040"/>
          </a:solidFill>
          <a:latin typeface="Calibri" panose="020F0502020204030204" pitchFamily="34" charset="0"/>
          <a:ea typeface="MS PGothic" pitchFamily="34" charset="-128"/>
          <a:cs typeface="Arial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Clr>
          <a:srgbClr val="DA3922"/>
        </a:buClr>
        <a:buSzPct val="50000"/>
        <a:buFont typeface="Lucida Grande"/>
        <a:buChar char="▶"/>
        <a:defRPr sz="2000" i="1" kern="1200">
          <a:solidFill>
            <a:srgbClr val="404040"/>
          </a:solidFill>
          <a:latin typeface="Arial"/>
          <a:ea typeface="+mn-ea"/>
          <a:cs typeface="Arial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1D0726-62D5-B2BA-651F-BA3720B1C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49DB5-131F-2229-32E5-AB44D3DD62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C2274-FB6C-9CA6-517A-1A4005428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B8B873-7CF7-4BB6-816D-922D49F1FDC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3E4C3-E126-D559-1D72-887CE0225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389FD-7CA2-A486-127D-ADE60BDE6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CB76A2-CBFB-46C7-B3D5-813443640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65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6" r:id="rId1"/>
    <p:sldLayoutId id="2147483927" r:id="rId2"/>
    <p:sldLayoutId id="2147483928" r:id="rId3"/>
    <p:sldLayoutId id="2147483929" r:id="rId4"/>
    <p:sldLayoutId id="2147483930" r:id="rId5"/>
    <p:sldLayoutId id="2147483931" r:id="rId6"/>
    <p:sldLayoutId id="2147483932" r:id="rId7"/>
    <p:sldLayoutId id="2147483933" r:id="rId8"/>
    <p:sldLayoutId id="2147483934" r:id="rId9"/>
    <p:sldLayoutId id="2147483935" r:id="rId10"/>
    <p:sldLayoutId id="214748393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3.pn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4.svg"/><Relationship Id="rId9" Type="http://schemas.microsoft.com/office/2007/relationships/diagramDrawing" Target="../diagrams/drawing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3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4.svg"/><Relationship Id="rId9" Type="http://schemas.microsoft.com/office/2007/relationships/diagramDrawing" Target="../diagrams/drawing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38.png"/><Relationship Id="rId3" Type="http://schemas.openxmlformats.org/officeDocument/2006/relationships/image" Target="../media/image18.png"/><Relationship Id="rId7" Type="http://schemas.openxmlformats.org/officeDocument/2006/relationships/image" Target="../media/image42.png"/><Relationship Id="rId12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34.png"/><Relationship Id="rId5" Type="http://schemas.openxmlformats.org/officeDocument/2006/relationships/image" Target="../media/image40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26.png"/><Relationship Id="rId1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79230F3-C1E4-4091-9387-49358E40BF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507 &amp; 510: Workshop_09/24 – 09/25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58578739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2060ED-8B8F-63F1-397E-D3E5C2420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Agenda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1E718-14BF-B0DC-1C79-9550A8DD4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/>
              <a:t>Review status of Sprint 1</a:t>
            </a:r>
          </a:p>
          <a:p>
            <a:endParaRPr lang="en-IN"/>
          </a:p>
          <a:p>
            <a:r>
              <a:rPr lang="en-IN"/>
              <a:t>Review status of Sprint 2</a:t>
            </a:r>
          </a:p>
          <a:p>
            <a:endParaRPr lang="en-IN"/>
          </a:p>
          <a:p>
            <a:r>
              <a:rPr lang="en-IN"/>
              <a:t>Review and confirm the end – end process </a:t>
            </a:r>
          </a:p>
          <a:p>
            <a:endParaRPr lang="en-IN"/>
          </a:p>
          <a:p>
            <a:r>
              <a:rPr lang="en-IN"/>
              <a:t>Walk thru of Copilot use case</a:t>
            </a:r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4889113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4A54F9-EACF-9443-2E1D-B7A7D1CCB8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613664"/>
              </p:ext>
            </p:extLst>
          </p:nvPr>
        </p:nvGraphicFramePr>
        <p:xfrm>
          <a:off x="1050506" y="1546199"/>
          <a:ext cx="10134391" cy="5086319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2273041">
                  <a:extLst>
                    <a:ext uri="{9D8B030D-6E8A-4147-A177-3AD203B41FA5}">
                      <a16:colId xmlns:a16="http://schemas.microsoft.com/office/drawing/2014/main" val="1812949756"/>
                    </a:ext>
                  </a:extLst>
                </a:gridCol>
                <a:gridCol w="2829626">
                  <a:extLst>
                    <a:ext uri="{9D8B030D-6E8A-4147-A177-3AD203B41FA5}">
                      <a16:colId xmlns:a16="http://schemas.microsoft.com/office/drawing/2014/main" val="3310098850"/>
                    </a:ext>
                  </a:extLst>
                </a:gridCol>
                <a:gridCol w="1828128">
                  <a:extLst>
                    <a:ext uri="{9D8B030D-6E8A-4147-A177-3AD203B41FA5}">
                      <a16:colId xmlns:a16="http://schemas.microsoft.com/office/drawing/2014/main" val="874143599"/>
                    </a:ext>
                  </a:extLst>
                </a:gridCol>
                <a:gridCol w="1601798">
                  <a:extLst>
                    <a:ext uri="{9D8B030D-6E8A-4147-A177-3AD203B41FA5}">
                      <a16:colId xmlns:a16="http://schemas.microsoft.com/office/drawing/2014/main" val="350822215"/>
                    </a:ext>
                  </a:extLst>
                </a:gridCol>
                <a:gridCol w="1601798">
                  <a:extLst>
                    <a:ext uri="{9D8B030D-6E8A-4147-A177-3AD203B41FA5}">
                      <a16:colId xmlns:a16="http://schemas.microsoft.com/office/drawing/2014/main" val="87292006"/>
                    </a:ext>
                  </a:extLst>
                </a:gridCol>
              </a:tblGrid>
              <a:tr h="49502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</a:rPr>
                        <a:t>Deliverable</a:t>
                      </a:r>
                      <a:endParaRPr lang="en-IN" sz="1400" b="1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R="121920" marT="76200" marB="7620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</a:rPr>
                        <a:t>How It's Driven</a:t>
                      </a:r>
                      <a:endParaRPr lang="en-IN" sz="1400" b="1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1920" marR="121920" marT="76200" marB="7620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</a:rPr>
                        <a:t>Supporting Templates</a:t>
                      </a:r>
                      <a:endParaRPr lang="en-IN" sz="1400" b="1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1920" marR="121920" marT="76200" marB="7620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Status</a:t>
                      </a:r>
                    </a:p>
                  </a:txBody>
                  <a:tcPr marL="121920" marR="121920" marT="76200" marB="7620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Accountable</a:t>
                      </a:r>
                    </a:p>
                  </a:txBody>
                  <a:tcPr marL="121920" marR="121920" marT="76200" marB="76200"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6409375"/>
                  </a:ext>
                </a:extLst>
              </a:tr>
              <a:tr h="64610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1">
                          <a:solidFill>
                            <a:schemeClr val="tx1"/>
                          </a:solidFill>
                          <a:effectLst/>
                        </a:rPr>
                        <a:t>AI Governance Charter and Risk Tiering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  <a:t>The charter is drafted in Sprint 1; risk tiering methodology is initiated.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  <a:t>Committee Charter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3 Committee Charters is pending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Cybersecurity/Vendor Committee – Nick and </a:t>
                      </a:r>
                      <a:r>
                        <a:rPr lang="en-IN" sz="1200" b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Kuppu</a:t>
                      </a: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(10/2)</a:t>
                      </a:r>
                    </a:p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Executive Team – Jason/Sebastian (9/25)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996596727"/>
                  </a:ext>
                </a:extLst>
              </a:tr>
              <a:tr h="64610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1">
                          <a:solidFill>
                            <a:schemeClr val="tx1"/>
                          </a:solidFill>
                          <a:effectLst/>
                        </a:rPr>
                        <a:t>AI Inventory and Model Documentation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  <a:t>Shadow AI is discovered and inventoried. Existing AI systems are registered.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  <a:t>AI Intake Form</a:t>
                      </a:r>
                      <a:b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  <a:t>AI Inventory Record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Closed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378062374"/>
                  </a:ext>
                </a:extLst>
              </a:tr>
              <a:tr h="89964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1">
                          <a:solidFill>
                            <a:schemeClr val="tx1"/>
                          </a:solidFill>
                          <a:effectLst/>
                        </a:rPr>
                        <a:t>Enabling Services and Capability Requirements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  <a:t>High-level current-state assessment of data, platforms, and services.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  <a:t>Business Discovery Form</a:t>
                      </a:r>
                      <a:b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</a:rPr>
                        <a:t>AI Inventory Record (for existing capabilities)</a:t>
                      </a: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Closed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endParaRPr lang="en-IN" sz="1200" b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604025293"/>
                  </a:ext>
                </a:extLst>
              </a:tr>
              <a:tr h="89964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Risk Register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Look at current Enterprise Risk Register and establish the Foundation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Control Register Template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Risk Register is Closed</a:t>
                      </a:r>
                    </a:p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Template for Control Register will be established in 501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2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NICK / KUPPU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10712131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8261F5B-F7FB-08F6-8B67-044E52794F9D}"/>
              </a:ext>
            </a:extLst>
          </p:cNvPr>
          <p:cNvSpPr txBox="1"/>
          <p:nvPr/>
        </p:nvSpPr>
        <p:spPr>
          <a:xfrm>
            <a:off x="1066800" y="1176867"/>
            <a:ext cx="9088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>
                <a:latin typeface="+mn-lt"/>
              </a:rPr>
              <a:t>Establish Foundation – Governance Committee | Risk Register | AI Inventory 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2132227-2DCD-EF04-9DC8-BBCD27710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SPRINT 1: Establish Mandate &amp; Inventory Shadow AI</a:t>
            </a:r>
          </a:p>
        </p:txBody>
      </p:sp>
    </p:spTree>
    <p:extLst>
      <p:ext uri="{BB962C8B-B14F-4D97-AF65-F5344CB8AC3E}">
        <p14:creationId xmlns:p14="http://schemas.microsoft.com/office/powerpoint/2010/main" val="326196863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1D7AF-18FA-F723-70D8-20602510D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SPRINT 2: Identify &amp; Prioritize AI Value Opportunities</a:t>
            </a:r>
            <a:endParaRPr lang="en-I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8BE7A5-8D52-42DD-5AF9-555EBFD2D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238CA89-7353-4F3A-AC37-89E42AD6A6B5}" type="slidenum">
              <a:rPr kumimoji="0" lang="en-US" altLang="en-US" sz="1000" b="0" i="1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000" b="0" i="1" u="none" strike="noStrike" kern="1200" cap="none" spc="0" normalizeH="0" baseline="0" noProof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82E313-F7C2-61F0-7485-1F8D8CABB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879700"/>
              </p:ext>
            </p:extLst>
          </p:nvPr>
        </p:nvGraphicFramePr>
        <p:xfrm>
          <a:off x="1011872" y="1903372"/>
          <a:ext cx="10244455" cy="4267518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2048891">
                  <a:extLst>
                    <a:ext uri="{9D8B030D-6E8A-4147-A177-3AD203B41FA5}">
                      <a16:colId xmlns:a16="http://schemas.microsoft.com/office/drawing/2014/main" val="2993515639"/>
                    </a:ext>
                  </a:extLst>
                </a:gridCol>
                <a:gridCol w="2048891">
                  <a:extLst>
                    <a:ext uri="{9D8B030D-6E8A-4147-A177-3AD203B41FA5}">
                      <a16:colId xmlns:a16="http://schemas.microsoft.com/office/drawing/2014/main" val="3016401487"/>
                    </a:ext>
                  </a:extLst>
                </a:gridCol>
                <a:gridCol w="2048891">
                  <a:extLst>
                    <a:ext uri="{9D8B030D-6E8A-4147-A177-3AD203B41FA5}">
                      <a16:colId xmlns:a16="http://schemas.microsoft.com/office/drawing/2014/main" val="1596192039"/>
                    </a:ext>
                  </a:extLst>
                </a:gridCol>
                <a:gridCol w="2048891">
                  <a:extLst>
                    <a:ext uri="{9D8B030D-6E8A-4147-A177-3AD203B41FA5}">
                      <a16:colId xmlns:a16="http://schemas.microsoft.com/office/drawing/2014/main" val="1380079112"/>
                    </a:ext>
                  </a:extLst>
                </a:gridCol>
                <a:gridCol w="2048891">
                  <a:extLst>
                    <a:ext uri="{9D8B030D-6E8A-4147-A177-3AD203B41FA5}">
                      <a16:colId xmlns:a16="http://schemas.microsoft.com/office/drawing/2014/main" val="4148817792"/>
                    </a:ext>
                  </a:extLst>
                </a:gridCol>
              </a:tblGrid>
              <a:tr h="29516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</a:rPr>
                        <a:t>Deliverable</a:t>
                      </a:r>
                      <a:endParaRPr lang="en-IN" sz="1400" b="1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</a:rPr>
                        <a:t>How It's Driven</a:t>
                      </a:r>
                      <a:endParaRPr lang="en-IN" sz="1400" b="1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</a:rPr>
                        <a:t>Supporting Templates</a:t>
                      </a:r>
                      <a:endParaRPr lang="en-IN" sz="1400" b="1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Status</a:t>
                      </a:r>
                    </a:p>
                  </a:txBody>
                  <a:tcPr marL="121920" marR="121920" marT="76200" marB="7620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400" b="1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Accountable</a:t>
                      </a:r>
                    </a:p>
                  </a:txBody>
                  <a:tcPr marL="121920" marR="121920" marT="76200" marB="76200"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51493"/>
                  </a:ext>
                </a:extLst>
              </a:tr>
              <a:tr h="84659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1">
                          <a:effectLst/>
                        </a:rPr>
                        <a:t>Prioritized AI Opportunity Portfolio</a:t>
                      </a:r>
                      <a:endParaRPr lang="en-IN" sz="105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</a:rPr>
                        <a:t>AI opportunities are assessed for value, feasibility, and strategic alignment. A portfolio view is created.</a:t>
                      </a:r>
                      <a:endParaRPr lang="en-IN" sz="105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</a:rPr>
                        <a:t>Business Discovery Form</a:t>
                      </a:r>
                      <a:br>
                        <a:rPr lang="en-IN" sz="1050" b="0">
                          <a:effectLst/>
                        </a:rPr>
                      </a:br>
                      <a:r>
                        <a:rPr lang="en-IN" sz="1050" b="0">
                          <a:effectLst/>
                        </a:rPr>
                        <a:t>AI Opportunity Assessment Form</a:t>
                      </a:r>
                      <a:br>
                        <a:rPr lang="en-IN" sz="1050" b="0">
                          <a:effectLst/>
                        </a:rPr>
                      </a:br>
                      <a:r>
                        <a:rPr lang="en-IN" sz="1050" b="0">
                          <a:effectLst/>
                        </a:rPr>
                        <a:t>AI Risk Assessment Form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AI Intake Form &amp; Register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AI Inventory Use Cases Complete</a:t>
                      </a:r>
                    </a:p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Prioritized Use Case in Progress towards Business Discovery Form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 MICAH – Business Process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10634613"/>
                  </a:ext>
                </a:extLst>
              </a:tr>
              <a:tr h="47203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Process Discovery | Copilot use case – Walkthrough ( Illustrative)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Walk through of Governance and Use Case Prioritization process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Process on a Page Slide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Workshop to Demo Use case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Closed – 09/24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endParaRPr lang="en-IN" sz="105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588998817"/>
                  </a:ext>
                </a:extLst>
              </a:tr>
              <a:tr h="84659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1">
                          <a:effectLst/>
                        </a:rPr>
                        <a:t>Value Realization Model and Budget Analysis</a:t>
                      </a:r>
                      <a:endParaRPr lang="en-IN" sz="105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</a:rPr>
                        <a:t>ROI, cost savings, and benefit metrics are defined for each opportunity.</a:t>
                      </a:r>
                      <a:endParaRPr lang="en-IN" sz="105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</a:rPr>
                        <a:t>AI Opportunity Assessment Form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Value Realization Template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Value Realization Register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Business Owner Signoff Template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Dependency on Completion of Use Case Assessment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BCBS IDENTIFIED</a:t>
                      </a:r>
                    </a:p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ACCELERE TO CONSULT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85730922"/>
                  </a:ext>
                </a:extLst>
              </a:tr>
              <a:tr h="84659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1">
                          <a:effectLst/>
                        </a:rPr>
                        <a:t>DPIA Assessment &amp; NIST AI RMF Mapping &amp; Security Assessment</a:t>
                      </a:r>
                      <a:endParaRPr lang="en-IN" sz="105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</a:rPr>
                        <a:t>Map use case to NIST AI RMF and conduct a Data Privacy for the prioritized use cases</a:t>
                      </a:r>
                      <a:endParaRPr lang="en-IN" sz="105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</a:rPr>
                        <a:t>NIST AI RMF Mapping Template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</a:rPr>
                        <a:t>Security Assessment Template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DPIA Template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DPIA </a:t>
                      </a:r>
                      <a:r>
                        <a:rPr lang="en-IN" sz="1050" b="0" err="1">
                          <a:effectLst/>
                          <a:latin typeface="quote-cjk-patch"/>
                        </a:rPr>
                        <a:t>SignOff</a:t>
                      </a:r>
                      <a:r>
                        <a:rPr lang="en-IN" sz="1050" b="0">
                          <a:effectLst/>
                          <a:latin typeface="quote-cjk-patch"/>
                        </a:rPr>
                        <a:t> Form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ts val="1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Dependency on Completion of Use Case Assessment</a:t>
                      </a:r>
                    </a:p>
                  </a:txBody>
                  <a:tcPr marL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BCBS IDENTIFIED</a:t>
                      </a:r>
                    </a:p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IN" sz="1050" b="0">
                          <a:effectLst/>
                          <a:latin typeface="quote-cjk-patch"/>
                        </a:rPr>
                        <a:t>ACCELERE TO CONSULT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endParaRPr lang="en-IN" sz="105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6769819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6AE7DFE-68A3-660C-8ED7-DB1EBCBCD0A0}"/>
              </a:ext>
            </a:extLst>
          </p:cNvPr>
          <p:cNvSpPr txBox="1"/>
          <p:nvPr/>
        </p:nvSpPr>
        <p:spPr>
          <a:xfrm>
            <a:off x="1027914" y="1181100"/>
            <a:ext cx="10244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>
                <a:latin typeface="+mn-lt"/>
              </a:rPr>
              <a:t>Establish PRIORITIZED USE CASE – PROCESS DISCOVERY | USE CASE ASSESSMENT| USE CASE PRIORITIZATION</a:t>
            </a:r>
          </a:p>
        </p:txBody>
      </p:sp>
    </p:spTree>
    <p:extLst>
      <p:ext uri="{BB962C8B-B14F-4D97-AF65-F5344CB8AC3E}">
        <p14:creationId xmlns:p14="http://schemas.microsoft.com/office/powerpoint/2010/main" val="105678217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07651-E962-09A8-B4E0-41D40A0B6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D448CD-DAB2-DB4D-8308-90AB3C167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2075687"/>
            <a:ext cx="1536011" cy="124702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isometricOffAxis1Right"/>
            <a:lightRig rig="threePt" dir="t"/>
          </a:scene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A76A14A-EF91-877D-F15A-D868ECC95856}"/>
              </a:ext>
            </a:extLst>
          </p:cNvPr>
          <p:cNvSpPr txBox="1"/>
          <p:nvPr/>
        </p:nvSpPr>
        <p:spPr>
          <a:xfrm>
            <a:off x="118130" y="1321427"/>
            <a:ext cx="20939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Resource has an idea and submits the Business Process Discovery Form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17B4EF-9F47-E741-261D-C01A613B545F}"/>
              </a:ext>
            </a:extLst>
          </p:cNvPr>
          <p:cNvCxnSpPr>
            <a:cxnSpLocks/>
          </p:cNvCxnSpPr>
          <p:nvPr/>
        </p:nvCxnSpPr>
        <p:spPr>
          <a:xfrm>
            <a:off x="687624" y="3484685"/>
            <a:ext cx="0" cy="1791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phic 10" descr="Group of people outline">
            <a:extLst>
              <a:ext uri="{FF2B5EF4-FFF2-40B4-BE49-F238E27FC236}">
                <a16:creationId xmlns:a16="http://schemas.microsoft.com/office/drawing/2014/main" id="{96356800-97E2-FF62-23D4-FC3417DEF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0424" y="5335556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87151BB-935B-988F-1AAE-46220B8838EF}"/>
              </a:ext>
            </a:extLst>
          </p:cNvPr>
          <p:cNvSpPr txBox="1"/>
          <p:nvPr/>
        </p:nvSpPr>
        <p:spPr>
          <a:xfrm>
            <a:off x="896278" y="4652473"/>
            <a:ext cx="18277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PMO receives form, and has cross functional team make an assessment</a:t>
            </a:r>
          </a:p>
        </p:txBody>
      </p:sp>
      <p:sp>
        <p:nvSpPr>
          <p:cNvPr id="14" name="Diamond 13">
            <a:extLst>
              <a:ext uri="{FF2B5EF4-FFF2-40B4-BE49-F238E27FC236}">
                <a16:creationId xmlns:a16="http://schemas.microsoft.com/office/drawing/2014/main" id="{E62D63DF-138B-9CDA-8F59-C281235DC668}"/>
              </a:ext>
            </a:extLst>
          </p:cNvPr>
          <p:cNvSpPr/>
          <p:nvPr/>
        </p:nvSpPr>
        <p:spPr>
          <a:xfrm>
            <a:off x="2545135" y="5268226"/>
            <a:ext cx="1335024" cy="1152144"/>
          </a:xfrm>
          <a:prstGeom prst="diamond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Should this be an AI project?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FBAA9AD-B028-A56E-C562-697E018FBE9F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3212647" y="4803308"/>
            <a:ext cx="0" cy="464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B8B2F41-F88C-0763-6877-50460B1B980B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1259234" y="5844298"/>
            <a:ext cx="1285901" cy="9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63C3EA9-019C-668F-BE1C-A6CFF98D055B}"/>
              </a:ext>
            </a:extLst>
          </p:cNvPr>
          <p:cNvCxnSpPr>
            <a:cxnSpLocks/>
            <a:stCxn id="14" idx="2"/>
          </p:cNvCxnSpPr>
          <p:nvPr/>
        </p:nvCxnSpPr>
        <p:spPr>
          <a:xfrm rot="5400000" flipH="1">
            <a:off x="1901055" y="5108778"/>
            <a:ext cx="98162" cy="2525023"/>
          </a:xfrm>
          <a:prstGeom prst="bentConnector4">
            <a:avLst>
              <a:gd name="adj1" fmla="val -232880"/>
              <a:gd name="adj2" fmla="val 10015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DE4730B-0A5C-38B0-17A5-F242D897B0B0}"/>
              </a:ext>
            </a:extLst>
          </p:cNvPr>
          <p:cNvSpPr txBox="1"/>
          <p:nvPr/>
        </p:nvSpPr>
        <p:spPr>
          <a:xfrm>
            <a:off x="1314116" y="6301148"/>
            <a:ext cx="484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</a:p>
        </p:txBody>
      </p:sp>
      <p:graphicFrame>
        <p:nvGraphicFramePr>
          <p:cNvPr id="28" name="Diagram 27">
            <a:extLst>
              <a:ext uri="{FF2B5EF4-FFF2-40B4-BE49-F238E27FC236}">
                <a16:creationId xmlns:a16="http://schemas.microsoft.com/office/drawing/2014/main" id="{94BA36D2-4E90-6696-525C-D2BA174809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5734119"/>
              </p:ext>
            </p:extLst>
          </p:nvPr>
        </p:nvGraphicFramePr>
        <p:xfrm>
          <a:off x="8594586" y="91290"/>
          <a:ext cx="1505714" cy="15696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034428B-97F0-8B1D-EE26-6F2B5DB17AA5}"/>
              </a:ext>
            </a:extLst>
          </p:cNvPr>
          <p:cNvSpPr txBox="1"/>
          <p:nvPr/>
        </p:nvSpPr>
        <p:spPr>
          <a:xfrm>
            <a:off x="2647003" y="4976299"/>
            <a:ext cx="569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Yes</a:t>
            </a:r>
          </a:p>
        </p:txBody>
      </p:sp>
      <p:sp>
        <p:nvSpPr>
          <p:cNvPr id="21" name="Arrow: Pentagon 20">
            <a:extLst>
              <a:ext uri="{FF2B5EF4-FFF2-40B4-BE49-F238E27FC236}">
                <a16:creationId xmlns:a16="http://schemas.microsoft.com/office/drawing/2014/main" id="{D7DC2422-F1D2-CBAF-B85A-06DA9478860C}"/>
              </a:ext>
            </a:extLst>
          </p:cNvPr>
          <p:cNvSpPr/>
          <p:nvPr/>
        </p:nvSpPr>
        <p:spPr>
          <a:xfrm>
            <a:off x="2425644" y="3650165"/>
            <a:ext cx="905256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00E4CE-653B-73C3-A7F5-AB3515BADCF2}"/>
              </a:ext>
            </a:extLst>
          </p:cNvPr>
          <p:cNvSpPr txBox="1"/>
          <p:nvPr/>
        </p:nvSpPr>
        <p:spPr>
          <a:xfrm>
            <a:off x="2476881" y="3714130"/>
            <a:ext cx="7299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Feasibility &amp; Value Assessment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4530B95D-6DD2-CBA7-E237-72BF8677055D}"/>
              </a:ext>
            </a:extLst>
          </p:cNvPr>
          <p:cNvSpPr/>
          <p:nvPr/>
        </p:nvSpPr>
        <p:spPr>
          <a:xfrm>
            <a:off x="3103445" y="3650164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521EC8-A558-05EB-4E9E-43620D475D2E}"/>
              </a:ext>
            </a:extLst>
          </p:cNvPr>
          <p:cNvSpPr txBox="1"/>
          <p:nvPr/>
        </p:nvSpPr>
        <p:spPr>
          <a:xfrm>
            <a:off x="3330900" y="3766519"/>
            <a:ext cx="83305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Risk Tiering Determination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Octagon 30">
            <a:extLst>
              <a:ext uri="{FF2B5EF4-FFF2-40B4-BE49-F238E27FC236}">
                <a16:creationId xmlns:a16="http://schemas.microsoft.com/office/drawing/2014/main" id="{6B4F83FC-22CA-7D92-4023-813824B2261E}"/>
              </a:ext>
            </a:extLst>
          </p:cNvPr>
          <p:cNvSpPr/>
          <p:nvPr/>
        </p:nvSpPr>
        <p:spPr>
          <a:xfrm>
            <a:off x="3866900" y="4102987"/>
            <a:ext cx="326130" cy="305509"/>
          </a:xfrm>
          <a:prstGeom prst="octag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E8EEE1F6-2802-7EC5-96E3-1AE590882A37}"/>
              </a:ext>
            </a:extLst>
          </p:cNvPr>
          <p:cNvSpPr/>
          <p:nvPr/>
        </p:nvSpPr>
        <p:spPr>
          <a:xfrm>
            <a:off x="2282622" y="3542527"/>
            <a:ext cx="2107946" cy="97201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CF2B41-50FC-4A1D-A344-6AE884D8AACB}"/>
              </a:ext>
            </a:extLst>
          </p:cNvPr>
          <p:cNvSpPr txBox="1"/>
          <p:nvPr/>
        </p:nvSpPr>
        <p:spPr>
          <a:xfrm>
            <a:off x="2235452" y="3104786"/>
            <a:ext cx="25506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AI/ Data Feasibility and Risk Assessment</a:t>
            </a:r>
          </a:p>
        </p:txBody>
      </p:sp>
      <p:sp>
        <p:nvSpPr>
          <p:cNvPr id="66" name="Arrow: Chevron 65">
            <a:extLst>
              <a:ext uri="{FF2B5EF4-FFF2-40B4-BE49-F238E27FC236}">
                <a16:creationId xmlns:a16="http://schemas.microsoft.com/office/drawing/2014/main" id="{10BDC832-4D75-DEA5-CD64-6BC4653995B3}"/>
              </a:ext>
            </a:extLst>
          </p:cNvPr>
          <p:cNvSpPr/>
          <p:nvPr/>
        </p:nvSpPr>
        <p:spPr>
          <a:xfrm>
            <a:off x="9433180" y="2478206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BFF014-B999-1C9F-8C69-C30B769344F8}"/>
              </a:ext>
            </a:extLst>
          </p:cNvPr>
          <p:cNvSpPr txBox="1"/>
          <p:nvPr/>
        </p:nvSpPr>
        <p:spPr>
          <a:xfrm>
            <a:off x="9729795" y="2492775"/>
            <a:ext cx="833050" cy="8617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Control Design &amp; Integration Plan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Octagon 69">
            <a:extLst>
              <a:ext uri="{FF2B5EF4-FFF2-40B4-BE49-F238E27FC236}">
                <a16:creationId xmlns:a16="http://schemas.microsoft.com/office/drawing/2014/main" id="{49BDA770-3654-5C96-010E-D45836530A3B}"/>
              </a:ext>
            </a:extLst>
          </p:cNvPr>
          <p:cNvSpPr/>
          <p:nvPr/>
        </p:nvSpPr>
        <p:spPr>
          <a:xfrm>
            <a:off x="10175371" y="3028769"/>
            <a:ext cx="326130" cy="305509"/>
          </a:xfrm>
          <a:prstGeom prst="octag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Arrow: Pentagon 71">
            <a:extLst>
              <a:ext uri="{FF2B5EF4-FFF2-40B4-BE49-F238E27FC236}">
                <a16:creationId xmlns:a16="http://schemas.microsoft.com/office/drawing/2014/main" id="{F6F020D4-7134-3DAA-D141-967B6AE24058}"/>
              </a:ext>
            </a:extLst>
          </p:cNvPr>
          <p:cNvSpPr/>
          <p:nvPr/>
        </p:nvSpPr>
        <p:spPr>
          <a:xfrm>
            <a:off x="8742953" y="2478206"/>
            <a:ext cx="905256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609658D-029B-73C8-69D6-24437FD0908B}"/>
              </a:ext>
            </a:extLst>
          </p:cNvPr>
          <p:cNvSpPr txBox="1"/>
          <p:nvPr/>
        </p:nvSpPr>
        <p:spPr>
          <a:xfrm>
            <a:off x="8792653" y="2505910"/>
            <a:ext cx="729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Solution Technical Architecture Design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DCE8EA9-6E21-7DFB-EF84-B7AA30F92449}"/>
              </a:ext>
            </a:extLst>
          </p:cNvPr>
          <p:cNvSpPr/>
          <p:nvPr/>
        </p:nvSpPr>
        <p:spPr>
          <a:xfrm>
            <a:off x="8630635" y="2221803"/>
            <a:ext cx="2012158" cy="12344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CC8453C-7F36-C6D0-4CE4-D7F7272C6161}"/>
              </a:ext>
            </a:extLst>
          </p:cNvPr>
          <p:cNvSpPr txBox="1"/>
          <p:nvPr/>
        </p:nvSpPr>
        <p:spPr>
          <a:xfrm>
            <a:off x="8630635" y="1981200"/>
            <a:ext cx="2471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Solution Design</a:t>
            </a:r>
          </a:p>
        </p:txBody>
      </p:sp>
      <p:sp>
        <p:nvSpPr>
          <p:cNvPr id="80" name="Arrow: Pentagon 79">
            <a:extLst>
              <a:ext uri="{FF2B5EF4-FFF2-40B4-BE49-F238E27FC236}">
                <a16:creationId xmlns:a16="http://schemas.microsoft.com/office/drawing/2014/main" id="{222C94E3-8B3E-A5FB-E39F-7DBA7DA066E8}"/>
              </a:ext>
            </a:extLst>
          </p:cNvPr>
          <p:cNvSpPr/>
          <p:nvPr/>
        </p:nvSpPr>
        <p:spPr>
          <a:xfrm>
            <a:off x="6080810" y="3776370"/>
            <a:ext cx="905256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Arrow: Chevron 83">
            <a:extLst>
              <a:ext uri="{FF2B5EF4-FFF2-40B4-BE49-F238E27FC236}">
                <a16:creationId xmlns:a16="http://schemas.microsoft.com/office/drawing/2014/main" id="{A9D053DF-9726-1897-B246-12B1F511A51E}"/>
              </a:ext>
            </a:extLst>
          </p:cNvPr>
          <p:cNvSpPr/>
          <p:nvPr/>
        </p:nvSpPr>
        <p:spPr>
          <a:xfrm>
            <a:off x="6758611" y="3776369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09D4871-5082-3CE0-A9F5-2E17A4313D88}"/>
              </a:ext>
            </a:extLst>
          </p:cNvPr>
          <p:cNvSpPr txBox="1"/>
          <p:nvPr/>
        </p:nvSpPr>
        <p:spPr>
          <a:xfrm>
            <a:off x="7038847" y="3791757"/>
            <a:ext cx="833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Clinical Simulation &amp; Workforce Attestation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F1A3906-4474-39A5-FB34-D1F700C897D5}"/>
              </a:ext>
            </a:extLst>
          </p:cNvPr>
          <p:cNvSpPr/>
          <p:nvPr/>
        </p:nvSpPr>
        <p:spPr>
          <a:xfrm>
            <a:off x="5726129" y="3646515"/>
            <a:ext cx="2221992" cy="10726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23E689B-029D-B9BA-F7FA-8B36CB24FDD6}"/>
              </a:ext>
            </a:extLst>
          </p:cNvPr>
          <p:cNvSpPr txBox="1"/>
          <p:nvPr/>
        </p:nvSpPr>
        <p:spPr>
          <a:xfrm>
            <a:off x="5757481" y="3387329"/>
            <a:ext cx="2471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Validation and Testing</a:t>
            </a:r>
          </a:p>
        </p:txBody>
      </p:sp>
      <p:sp>
        <p:nvSpPr>
          <p:cNvPr id="94" name="Arrow: Pentagon 93">
            <a:extLst>
              <a:ext uri="{FF2B5EF4-FFF2-40B4-BE49-F238E27FC236}">
                <a16:creationId xmlns:a16="http://schemas.microsoft.com/office/drawing/2014/main" id="{BF53B63A-B362-2ED1-6D10-350ECB69F034}"/>
              </a:ext>
            </a:extLst>
          </p:cNvPr>
          <p:cNvSpPr/>
          <p:nvPr/>
        </p:nvSpPr>
        <p:spPr>
          <a:xfrm>
            <a:off x="6711126" y="5646124"/>
            <a:ext cx="905256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97A905F-FD91-30BD-9862-4532B93057F8}"/>
              </a:ext>
            </a:extLst>
          </p:cNvPr>
          <p:cNvSpPr txBox="1"/>
          <p:nvPr/>
        </p:nvSpPr>
        <p:spPr>
          <a:xfrm>
            <a:off x="6683134" y="5681992"/>
            <a:ext cx="8092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 Deployment Authorization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Octagon 101">
            <a:extLst>
              <a:ext uri="{FF2B5EF4-FFF2-40B4-BE49-F238E27FC236}">
                <a16:creationId xmlns:a16="http://schemas.microsoft.com/office/drawing/2014/main" id="{11E8EAA2-3BA4-F7A0-1F61-06E0573D5621}"/>
              </a:ext>
            </a:extLst>
          </p:cNvPr>
          <p:cNvSpPr/>
          <p:nvPr/>
        </p:nvSpPr>
        <p:spPr>
          <a:xfrm>
            <a:off x="7302234" y="6100092"/>
            <a:ext cx="326130" cy="305509"/>
          </a:xfrm>
          <a:prstGeom prst="octag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003D54F7-F866-61B9-7114-E48C6CA07317}"/>
              </a:ext>
            </a:extLst>
          </p:cNvPr>
          <p:cNvSpPr/>
          <p:nvPr/>
        </p:nvSpPr>
        <p:spPr>
          <a:xfrm>
            <a:off x="6468056" y="5367238"/>
            <a:ext cx="1239387" cy="12344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726E4A5-C2C3-E4F4-379D-A59D91EF6E50}"/>
              </a:ext>
            </a:extLst>
          </p:cNvPr>
          <p:cNvSpPr txBox="1"/>
          <p:nvPr/>
        </p:nvSpPr>
        <p:spPr>
          <a:xfrm>
            <a:off x="6231825" y="5114266"/>
            <a:ext cx="21408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Deployment Authorization</a:t>
            </a:r>
          </a:p>
        </p:txBody>
      </p:sp>
      <p:sp>
        <p:nvSpPr>
          <p:cNvPr id="108" name="Arrow: Chevron 107">
            <a:extLst>
              <a:ext uri="{FF2B5EF4-FFF2-40B4-BE49-F238E27FC236}">
                <a16:creationId xmlns:a16="http://schemas.microsoft.com/office/drawing/2014/main" id="{AB01E595-0DD3-D9D5-18FD-8A5C19E4DC4C}"/>
              </a:ext>
            </a:extLst>
          </p:cNvPr>
          <p:cNvSpPr/>
          <p:nvPr/>
        </p:nvSpPr>
        <p:spPr>
          <a:xfrm>
            <a:off x="9734377" y="5632193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D77A5A0-0E68-D3C3-BF5A-BE74B209961A}"/>
              </a:ext>
            </a:extLst>
          </p:cNvPr>
          <p:cNvSpPr txBox="1"/>
          <p:nvPr/>
        </p:nvSpPr>
        <p:spPr>
          <a:xfrm>
            <a:off x="10026792" y="5670064"/>
            <a:ext cx="8330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Incident Response &amp; Circuit Breaker</a:t>
            </a:r>
          </a:p>
        </p:txBody>
      </p:sp>
      <p:sp>
        <p:nvSpPr>
          <p:cNvPr id="112" name="Arrow: Chevron 111">
            <a:extLst>
              <a:ext uri="{FF2B5EF4-FFF2-40B4-BE49-F238E27FC236}">
                <a16:creationId xmlns:a16="http://schemas.microsoft.com/office/drawing/2014/main" id="{B480651C-7CA3-EBD8-8092-146DF4787ABF}"/>
              </a:ext>
            </a:extLst>
          </p:cNvPr>
          <p:cNvSpPr/>
          <p:nvPr/>
        </p:nvSpPr>
        <p:spPr>
          <a:xfrm>
            <a:off x="10654877" y="5632193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98B8507-69C8-390A-6B71-011990535595}"/>
              </a:ext>
            </a:extLst>
          </p:cNvPr>
          <p:cNvSpPr txBox="1"/>
          <p:nvPr/>
        </p:nvSpPr>
        <p:spPr>
          <a:xfrm>
            <a:off x="10951492" y="5646762"/>
            <a:ext cx="833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Annual AI Compliance &amp; Regulatory Filing</a:t>
            </a:r>
          </a:p>
        </p:txBody>
      </p:sp>
      <p:sp>
        <p:nvSpPr>
          <p:cNvPr id="116" name="Octagon 115">
            <a:extLst>
              <a:ext uri="{FF2B5EF4-FFF2-40B4-BE49-F238E27FC236}">
                <a16:creationId xmlns:a16="http://schemas.microsoft.com/office/drawing/2014/main" id="{4E6B56B7-6C5F-6FE3-0975-FFF55F7046B6}"/>
              </a:ext>
            </a:extLst>
          </p:cNvPr>
          <p:cNvSpPr/>
          <p:nvPr/>
        </p:nvSpPr>
        <p:spPr>
          <a:xfrm>
            <a:off x="11397068" y="6182756"/>
            <a:ext cx="326130" cy="305509"/>
          </a:xfrm>
          <a:prstGeom prst="octag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8" name="Arrow: Pentagon 117">
            <a:extLst>
              <a:ext uri="{FF2B5EF4-FFF2-40B4-BE49-F238E27FC236}">
                <a16:creationId xmlns:a16="http://schemas.microsoft.com/office/drawing/2014/main" id="{17F54916-7500-CDB4-2737-25AF857825D2}"/>
              </a:ext>
            </a:extLst>
          </p:cNvPr>
          <p:cNvSpPr/>
          <p:nvPr/>
        </p:nvSpPr>
        <p:spPr>
          <a:xfrm>
            <a:off x="9041338" y="5632193"/>
            <a:ext cx="905256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A4600A2-2347-1335-7B33-F0318F7468C4}"/>
              </a:ext>
            </a:extLst>
          </p:cNvPr>
          <p:cNvSpPr txBox="1"/>
          <p:nvPr/>
        </p:nvSpPr>
        <p:spPr>
          <a:xfrm>
            <a:off x="9051822" y="5625100"/>
            <a:ext cx="729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Continuous Telemetry &amp; Drift Monitoring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27EF9DA0-4E9B-9395-386E-0C1E3FEB4E57}"/>
              </a:ext>
            </a:extLst>
          </p:cNvPr>
          <p:cNvSpPr/>
          <p:nvPr/>
        </p:nvSpPr>
        <p:spPr>
          <a:xfrm>
            <a:off x="8754654" y="5447228"/>
            <a:ext cx="3187632" cy="11522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437B6D8-EBBA-A55F-2A30-6D4EE5BB5163}"/>
              </a:ext>
            </a:extLst>
          </p:cNvPr>
          <p:cNvSpPr txBox="1"/>
          <p:nvPr/>
        </p:nvSpPr>
        <p:spPr>
          <a:xfrm>
            <a:off x="8769842" y="5156768"/>
            <a:ext cx="26609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Ongoing Monitoring and Compliance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2CDCB810-DB60-881A-6876-781B402F92B9}"/>
              </a:ext>
            </a:extLst>
          </p:cNvPr>
          <p:cNvSpPr txBox="1"/>
          <p:nvPr/>
        </p:nvSpPr>
        <p:spPr>
          <a:xfrm>
            <a:off x="3145907" y="4616231"/>
            <a:ext cx="18277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AI use case is captured into the AI register and Assessment is triggered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DE1444A-4BA4-29AD-28AA-C404F5E5BEEA}"/>
              </a:ext>
            </a:extLst>
          </p:cNvPr>
          <p:cNvSpPr txBox="1"/>
          <p:nvPr/>
        </p:nvSpPr>
        <p:spPr>
          <a:xfrm>
            <a:off x="1485107" y="394227"/>
            <a:ext cx="2387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Inputs from these assessments leads to the value realization and use case prioritization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705C6DD5-D3A5-CB47-5479-00D6E541DCDA}"/>
              </a:ext>
            </a:extLst>
          </p:cNvPr>
          <p:cNvSpPr txBox="1"/>
          <p:nvPr/>
        </p:nvSpPr>
        <p:spPr>
          <a:xfrm>
            <a:off x="5441149" y="1638499"/>
            <a:ext cx="2791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If passing these assessments and use case is prioritized, then information is input into the AI Intake form for the Governance Committee approval</a:t>
            </a:r>
          </a:p>
        </p:txBody>
      </p:sp>
      <p:sp>
        <p:nvSpPr>
          <p:cNvPr id="136" name="Arrow: Chevron 135">
            <a:extLst>
              <a:ext uri="{FF2B5EF4-FFF2-40B4-BE49-F238E27FC236}">
                <a16:creationId xmlns:a16="http://schemas.microsoft.com/office/drawing/2014/main" id="{E10455A1-D3D2-BF38-B255-49DFD60AF2DD}"/>
              </a:ext>
            </a:extLst>
          </p:cNvPr>
          <p:cNvSpPr/>
          <p:nvPr/>
        </p:nvSpPr>
        <p:spPr>
          <a:xfrm>
            <a:off x="2803780" y="2076678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49D33B2C-A73A-7DFD-755D-1E10F6F14CE9}"/>
              </a:ext>
            </a:extLst>
          </p:cNvPr>
          <p:cNvSpPr txBox="1"/>
          <p:nvPr/>
        </p:nvSpPr>
        <p:spPr>
          <a:xfrm>
            <a:off x="4022136" y="2151868"/>
            <a:ext cx="833050" cy="73866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 Value Realization Model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0" name="Arrow: Chevron 139">
            <a:extLst>
              <a:ext uri="{FF2B5EF4-FFF2-40B4-BE49-F238E27FC236}">
                <a16:creationId xmlns:a16="http://schemas.microsoft.com/office/drawing/2014/main" id="{1A7F46DA-19F9-ABA8-5B1A-0E47EC2E3CC2}"/>
              </a:ext>
            </a:extLst>
          </p:cNvPr>
          <p:cNvSpPr/>
          <p:nvPr/>
        </p:nvSpPr>
        <p:spPr>
          <a:xfrm>
            <a:off x="3730817" y="2076678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8356BC5-00C9-F01B-5944-E1EAFF09BF0B}"/>
              </a:ext>
            </a:extLst>
          </p:cNvPr>
          <p:cNvSpPr txBox="1"/>
          <p:nvPr/>
        </p:nvSpPr>
        <p:spPr>
          <a:xfrm>
            <a:off x="3107680" y="2213938"/>
            <a:ext cx="83305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Rank the use case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4" name="Octagon 143">
            <a:extLst>
              <a:ext uri="{FF2B5EF4-FFF2-40B4-BE49-F238E27FC236}">
                <a16:creationId xmlns:a16="http://schemas.microsoft.com/office/drawing/2014/main" id="{0442F2D4-558F-A8DA-76F0-FD2912940881}"/>
              </a:ext>
            </a:extLst>
          </p:cNvPr>
          <p:cNvSpPr/>
          <p:nvPr/>
        </p:nvSpPr>
        <p:spPr>
          <a:xfrm>
            <a:off x="4473008" y="2627241"/>
            <a:ext cx="326130" cy="305509"/>
          </a:xfrm>
          <a:prstGeom prst="octagon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6" name="Arrow: Pentagon 145">
            <a:extLst>
              <a:ext uri="{FF2B5EF4-FFF2-40B4-BE49-F238E27FC236}">
                <a16:creationId xmlns:a16="http://schemas.microsoft.com/office/drawing/2014/main" id="{00780750-C4F7-5F6D-2DA6-151A206693DC}"/>
              </a:ext>
            </a:extLst>
          </p:cNvPr>
          <p:cNvSpPr/>
          <p:nvPr/>
        </p:nvSpPr>
        <p:spPr>
          <a:xfrm>
            <a:off x="2117278" y="2076678"/>
            <a:ext cx="905256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0912BE35-B786-FD8C-4BB7-FC712298366F}"/>
              </a:ext>
            </a:extLst>
          </p:cNvPr>
          <p:cNvSpPr txBox="1"/>
          <p:nvPr/>
        </p:nvSpPr>
        <p:spPr>
          <a:xfrm>
            <a:off x="2178811" y="2175885"/>
            <a:ext cx="729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 value feasibility and risk</a:t>
            </a: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EF7E1754-F5AC-9BD6-101F-E47912320475}"/>
              </a:ext>
            </a:extLst>
          </p:cNvPr>
          <p:cNvSpPr/>
          <p:nvPr/>
        </p:nvSpPr>
        <p:spPr>
          <a:xfrm>
            <a:off x="1946866" y="1849807"/>
            <a:ext cx="3187632" cy="12344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8897355-E523-0DD8-FF00-E0D856EB6F22}"/>
              </a:ext>
            </a:extLst>
          </p:cNvPr>
          <p:cNvSpPr txBox="1"/>
          <p:nvPr/>
        </p:nvSpPr>
        <p:spPr>
          <a:xfrm>
            <a:off x="2019019" y="1593420"/>
            <a:ext cx="25235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Case Prioritization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C0CC85F0-2F95-1385-75B4-984F27C66A1C}"/>
              </a:ext>
            </a:extLst>
          </p:cNvPr>
          <p:cNvSpPr txBox="1"/>
          <p:nvPr/>
        </p:nvSpPr>
        <p:spPr>
          <a:xfrm>
            <a:off x="9742343" y="120901"/>
            <a:ext cx="2373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AI Governance Committee makes decision on investment after reviewing all information in the AI 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Intake Form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5D6B5503-B0A6-6448-5167-1C5D882FF8D7}"/>
              </a:ext>
            </a:extLst>
          </p:cNvPr>
          <p:cNvCxnSpPr>
            <a:cxnSpLocks/>
          </p:cNvCxnSpPr>
          <p:nvPr/>
        </p:nvCxnSpPr>
        <p:spPr>
          <a:xfrm>
            <a:off x="9379415" y="1698997"/>
            <a:ext cx="0" cy="282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6F8B04F3-61D5-507F-7747-D4ED1359103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413200" y="983847"/>
            <a:ext cx="621372" cy="426176"/>
          </a:xfrm>
          <a:prstGeom prst="bentConnector4">
            <a:avLst>
              <a:gd name="adj1" fmla="val 9136"/>
              <a:gd name="adj2" fmla="val -84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9FB6B6AF-25F7-8D3F-4040-0408AF6D95F5}"/>
              </a:ext>
            </a:extLst>
          </p:cNvPr>
          <p:cNvCxnSpPr>
            <a:cxnSpLocks/>
          </p:cNvCxnSpPr>
          <p:nvPr/>
        </p:nvCxnSpPr>
        <p:spPr>
          <a:xfrm flipV="1">
            <a:off x="7344734" y="862268"/>
            <a:ext cx="1285901" cy="9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ctagon 87">
            <a:extLst>
              <a:ext uri="{FF2B5EF4-FFF2-40B4-BE49-F238E27FC236}">
                <a16:creationId xmlns:a16="http://schemas.microsoft.com/office/drawing/2014/main" id="{07F8F997-0948-0C2E-6322-142231C14990}"/>
              </a:ext>
            </a:extLst>
          </p:cNvPr>
          <p:cNvSpPr/>
          <p:nvPr/>
        </p:nvSpPr>
        <p:spPr>
          <a:xfrm>
            <a:off x="7481593" y="4332823"/>
            <a:ext cx="326130" cy="305509"/>
          </a:xfrm>
          <a:prstGeom prst="octag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F1D0156B-60DF-BAB4-F27F-36FE72A801C7}"/>
              </a:ext>
            </a:extLst>
          </p:cNvPr>
          <p:cNvCxnSpPr>
            <a:cxnSpLocks/>
            <a:stCxn id="32" idx="1"/>
            <a:endCxn id="92" idx="0"/>
          </p:cNvCxnSpPr>
          <p:nvPr/>
        </p:nvCxnSpPr>
        <p:spPr>
          <a:xfrm rot="10800000" flipV="1">
            <a:off x="6993442" y="3216645"/>
            <a:ext cx="1175070" cy="1706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8FC6755-9A2D-D8F7-C7BA-3E7D6CBFC557}"/>
              </a:ext>
            </a:extLst>
          </p:cNvPr>
          <p:cNvCxnSpPr>
            <a:cxnSpLocks/>
          </p:cNvCxnSpPr>
          <p:nvPr/>
        </p:nvCxnSpPr>
        <p:spPr>
          <a:xfrm>
            <a:off x="7024802" y="4794164"/>
            <a:ext cx="0" cy="335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894F70-B50C-86D9-A7D4-C808015286F4}"/>
              </a:ext>
            </a:extLst>
          </p:cNvPr>
          <p:cNvCxnSpPr>
            <a:cxnSpLocks/>
          </p:cNvCxnSpPr>
          <p:nvPr/>
        </p:nvCxnSpPr>
        <p:spPr>
          <a:xfrm>
            <a:off x="7871897" y="5984458"/>
            <a:ext cx="7226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D2AEE19-F4CB-CFBE-8C0B-7F3460208990}"/>
              </a:ext>
            </a:extLst>
          </p:cNvPr>
          <p:cNvSpPr txBox="1"/>
          <p:nvPr/>
        </p:nvSpPr>
        <p:spPr>
          <a:xfrm>
            <a:off x="6074161" y="3733800"/>
            <a:ext cx="82108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Pre-Deployment Model Validation &amp; Bias Testing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0B6D96-8639-69A1-5A59-CDEC23082918}"/>
              </a:ext>
            </a:extLst>
          </p:cNvPr>
          <p:cNvSpPr txBox="1"/>
          <p:nvPr/>
        </p:nvSpPr>
        <p:spPr>
          <a:xfrm>
            <a:off x="765297" y="3309775"/>
            <a:ext cx="107457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S2_05 Business Process Form</a:t>
            </a:r>
          </a:p>
          <a:p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E4C25C-6BDD-0EA4-271C-70D18494C67D}"/>
              </a:ext>
            </a:extLst>
          </p:cNvPr>
          <p:cNvSpPr txBox="1"/>
          <p:nvPr/>
        </p:nvSpPr>
        <p:spPr>
          <a:xfrm>
            <a:off x="3835799" y="5404033"/>
            <a:ext cx="1074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S1_03 AI Intake form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E26083-9C6D-57A5-3F7E-3AE1AB338FDA}"/>
              </a:ext>
            </a:extLst>
          </p:cNvPr>
          <p:cNvSpPr txBox="1"/>
          <p:nvPr/>
        </p:nvSpPr>
        <p:spPr>
          <a:xfrm>
            <a:off x="3887792" y="5709117"/>
            <a:ext cx="1074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S1_04 AI Registry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AA2578-3DB3-B66C-F8AF-F86DEF88225A}"/>
              </a:ext>
            </a:extLst>
          </p:cNvPr>
          <p:cNvSpPr txBox="1"/>
          <p:nvPr/>
        </p:nvSpPr>
        <p:spPr>
          <a:xfrm>
            <a:off x="1567508" y="3982170"/>
            <a:ext cx="1047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S2_06 Opportunity Assessment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7CEB89-C567-9EF1-E467-5E3625595C9E}"/>
              </a:ext>
            </a:extLst>
          </p:cNvPr>
          <p:cNvSpPr txBox="1"/>
          <p:nvPr/>
        </p:nvSpPr>
        <p:spPr>
          <a:xfrm>
            <a:off x="4373089" y="3722507"/>
            <a:ext cx="1074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S2_07 AI Risk Assessment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DB2D65-7974-3F84-8506-077DC0C2334F}"/>
              </a:ext>
            </a:extLst>
          </p:cNvPr>
          <p:cNvSpPr txBox="1"/>
          <p:nvPr/>
        </p:nvSpPr>
        <p:spPr>
          <a:xfrm>
            <a:off x="4357644" y="4032223"/>
            <a:ext cx="1074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SSP S1_02 NIST Mapping</a:t>
            </a: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F42101D2-100A-C104-4725-CD75DACD7C27}"/>
              </a:ext>
            </a:extLst>
          </p:cNvPr>
          <p:cNvSpPr/>
          <p:nvPr/>
        </p:nvSpPr>
        <p:spPr>
          <a:xfrm>
            <a:off x="5007741" y="619862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AC95ED4-DA78-B7BC-A889-210ACB00AAB6}"/>
              </a:ext>
            </a:extLst>
          </p:cNvPr>
          <p:cNvSpPr txBox="1"/>
          <p:nvPr/>
        </p:nvSpPr>
        <p:spPr>
          <a:xfrm>
            <a:off x="5261105" y="702750"/>
            <a:ext cx="8330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Party  Vendor AI Due Diligence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Arrow: Chevron 43">
            <a:extLst>
              <a:ext uri="{FF2B5EF4-FFF2-40B4-BE49-F238E27FC236}">
                <a16:creationId xmlns:a16="http://schemas.microsoft.com/office/drawing/2014/main" id="{A98A5F76-AC6B-D192-4D40-A2EB72B36874}"/>
              </a:ext>
            </a:extLst>
          </p:cNvPr>
          <p:cNvSpPr/>
          <p:nvPr/>
        </p:nvSpPr>
        <p:spPr>
          <a:xfrm>
            <a:off x="5928241" y="619862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AAA773-46F6-1C28-0D82-A81990BCBE5C}"/>
              </a:ext>
            </a:extLst>
          </p:cNvPr>
          <p:cNvSpPr txBox="1"/>
          <p:nvPr/>
        </p:nvSpPr>
        <p:spPr>
          <a:xfrm>
            <a:off x="6224856" y="634431"/>
            <a:ext cx="83305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Enterprise Security AI Architecture Review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Octagon 49">
            <a:extLst>
              <a:ext uri="{FF2B5EF4-FFF2-40B4-BE49-F238E27FC236}">
                <a16:creationId xmlns:a16="http://schemas.microsoft.com/office/drawing/2014/main" id="{291B4A98-1E55-D9E7-79F7-9D594CB9FE66}"/>
              </a:ext>
            </a:extLst>
          </p:cNvPr>
          <p:cNvSpPr/>
          <p:nvPr/>
        </p:nvSpPr>
        <p:spPr>
          <a:xfrm>
            <a:off x="6731776" y="1124855"/>
            <a:ext cx="326130" cy="305509"/>
          </a:xfrm>
          <a:prstGeom prst="octag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Arrow: Pentagon 54">
            <a:extLst>
              <a:ext uri="{FF2B5EF4-FFF2-40B4-BE49-F238E27FC236}">
                <a16:creationId xmlns:a16="http://schemas.microsoft.com/office/drawing/2014/main" id="{0327BE8E-5095-3C45-951A-9538E3E708C2}"/>
              </a:ext>
            </a:extLst>
          </p:cNvPr>
          <p:cNvSpPr/>
          <p:nvPr/>
        </p:nvSpPr>
        <p:spPr>
          <a:xfrm>
            <a:off x="4314702" y="619862"/>
            <a:ext cx="905256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5A8B4DF-DCAD-1F20-1276-AA9E4BAE88E4}"/>
              </a:ext>
            </a:extLst>
          </p:cNvPr>
          <p:cNvSpPr txBox="1"/>
          <p:nvPr/>
        </p:nvSpPr>
        <p:spPr>
          <a:xfrm>
            <a:off x="4337364" y="623249"/>
            <a:ext cx="729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Protection Impact Assessment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7D5B6F1-166F-B164-6115-43B27A14D3E2}"/>
              </a:ext>
            </a:extLst>
          </p:cNvPr>
          <p:cNvSpPr/>
          <p:nvPr/>
        </p:nvSpPr>
        <p:spPr>
          <a:xfrm>
            <a:off x="4094299" y="363459"/>
            <a:ext cx="3187632" cy="12344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8325732-9770-C2F0-B6E8-8F6F7ACD82E0}"/>
              </a:ext>
            </a:extLst>
          </p:cNvPr>
          <p:cNvSpPr txBox="1"/>
          <p:nvPr/>
        </p:nvSpPr>
        <p:spPr>
          <a:xfrm>
            <a:off x="4061690" y="101139"/>
            <a:ext cx="36735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Privacy Review and 3rd Party Risk Assessment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D9E6152-B92D-E2D1-0542-AA553B660826}"/>
              </a:ext>
            </a:extLst>
          </p:cNvPr>
          <p:cNvSpPr txBox="1"/>
          <p:nvPr/>
        </p:nvSpPr>
        <p:spPr>
          <a:xfrm>
            <a:off x="2041883" y="2728372"/>
            <a:ext cx="11262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S2_08 Portfolio Prioritization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745D5E-7824-7A9F-4DA0-A0F38DB0DE1D}"/>
              </a:ext>
            </a:extLst>
          </p:cNvPr>
          <p:cNvSpPr txBox="1"/>
          <p:nvPr/>
        </p:nvSpPr>
        <p:spPr>
          <a:xfrm>
            <a:off x="4098890" y="1235415"/>
            <a:ext cx="1074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SSP S2_05 – SSP S2_07, SSP S2_09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DF03453-C467-762C-2B3C-D816EF74BE0E}"/>
              </a:ext>
            </a:extLst>
          </p:cNvPr>
          <p:cNvSpPr txBox="1"/>
          <p:nvPr/>
        </p:nvSpPr>
        <p:spPr>
          <a:xfrm>
            <a:off x="3038939" y="2727061"/>
            <a:ext cx="15651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S2_09,10 Value Realization model and Signoff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2AF98FB-6095-9820-EE6E-644E4D9C7D65}"/>
              </a:ext>
            </a:extLst>
          </p:cNvPr>
          <p:cNvSpPr txBox="1"/>
          <p:nvPr/>
        </p:nvSpPr>
        <p:spPr>
          <a:xfrm>
            <a:off x="5151187" y="1239735"/>
            <a:ext cx="758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SSP S2_08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0E1BE4F-A1D1-991A-D03E-06FBA1080CC8}"/>
              </a:ext>
            </a:extLst>
          </p:cNvPr>
          <p:cNvSpPr txBox="1"/>
          <p:nvPr/>
        </p:nvSpPr>
        <p:spPr>
          <a:xfrm>
            <a:off x="6031270" y="1257490"/>
            <a:ext cx="107457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SSP S1_05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BD9A64-A869-F247-7EFD-D8D94A3539F5}"/>
              </a:ext>
            </a:extLst>
          </p:cNvPr>
          <p:cNvSpPr txBox="1"/>
          <p:nvPr/>
        </p:nvSpPr>
        <p:spPr>
          <a:xfrm>
            <a:off x="9906027" y="943469"/>
            <a:ext cx="1074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S1_03 AI Intake form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0770EA9-CC38-FC0B-C160-F30207788344}"/>
              </a:ext>
            </a:extLst>
          </p:cNvPr>
          <p:cNvSpPr txBox="1"/>
          <p:nvPr/>
        </p:nvSpPr>
        <p:spPr>
          <a:xfrm>
            <a:off x="4375061" y="3439023"/>
            <a:ext cx="1594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 S2_11 Benefit Owner Signoff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9398238-AF15-EFB3-00F4-1DBB55D92211}"/>
              </a:ext>
            </a:extLst>
          </p:cNvPr>
          <p:cNvSpPr txBox="1"/>
          <p:nvPr/>
        </p:nvSpPr>
        <p:spPr>
          <a:xfrm>
            <a:off x="10628848" y="1877183"/>
            <a:ext cx="150162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AI Solution Architects review policies to identify mandated controls and seek approvals through the identified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CD072CE-B8E0-1CC0-DE93-9FD76A420993}"/>
              </a:ext>
            </a:extLst>
          </p:cNvPr>
          <p:cNvSpPr txBox="1"/>
          <p:nvPr/>
        </p:nvSpPr>
        <p:spPr>
          <a:xfrm>
            <a:off x="10654877" y="3414546"/>
            <a:ext cx="6840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WB 1, 4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8B95A903-1929-F584-E897-074787633C20}"/>
              </a:ext>
            </a:extLst>
          </p:cNvPr>
          <p:cNvSpPr txBox="1"/>
          <p:nvPr/>
        </p:nvSpPr>
        <p:spPr>
          <a:xfrm>
            <a:off x="8935202" y="4604398"/>
            <a:ext cx="4940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S4A</a:t>
            </a:r>
            <a:endParaRPr lang="en-US" sz="1000" i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5" name="Arrow: Chevron 164">
            <a:extLst>
              <a:ext uri="{FF2B5EF4-FFF2-40B4-BE49-F238E27FC236}">
                <a16:creationId xmlns:a16="http://schemas.microsoft.com/office/drawing/2014/main" id="{80E8C993-6996-6812-57D6-14BDDB20B4AA}"/>
              </a:ext>
            </a:extLst>
          </p:cNvPr>
          <p:cNvSpPr/>
          <p:nvPr/>
        </p:nvSpPr>
        <p:spPr>
          <a:xfrm>
            <a:off x="9510352" y="3950959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2CCCBA3-89A3-D2C1-7FAD-5059DC12CBB1}"/>
              </a:ext>
            </a:extLst>
          </p:cNvPr>
          <p:cNvSpPr txBox="1"/>
          <p:nvPr/>
        </p:nvSpPr>
        <p:spPr>
          <a:xfrm>
            <a:off x="9763716" y="4033847"/>
            <a:ext cx="8330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Clinical Safety &amp; Protocol Assurance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9" name="Arrow: Chevron 168">
            <a:extLst>
              <a:ext uri="{FF2B5EF4-FFF2-40B4-BE49-F238E27FC236}">
                <a16:creationId xmlns:a16="http://schemas.microsoft.com/office/drawing/2014/main" id="{28D6AEDC-2250-C171-6DC9-8BB16C16C0DB}"/>
              </a:ext>
            </a:extLst>
          </p:cNvPr>
          <p:cNvSpPr/>
          <p:nvPr/>
        </p:nvSpPr>
        <p:spPr>
          <a:xfrm>
            <a:off x="10430852" y="3950959"/>
            <a:ext cx="1158620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4BBDA4-8A21-6BAB-C8D3-3112E6C93BBA}"/>
              </a:ext>
            </a:extLst>
          </p:cNvPr>
          <p:cNvSpPr txBox="1"/>
          <p:nvPr/>
        </p:nvSpPr>
        <p:spPr>
          <a:xfrm>
            <a:off x="10725443" y="4028639"/>
            <a:ext cx="833050" cy="61555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Legal and Regulatory SOP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4" name="Octagon 173">
            <a:extLst>
              <a:ext uri="{FF2B5EF4-FFF2-40B4-BE49-F238E27FC236}">
                <a16:creationId xmlns:a16="http://schemas.microsoft.com/office/drawing/2014/main" id="{70406BE5-B306-4B10-04F1-F522A76E9E16}"/>
              </a:ext>
            </a:extLst>
          </p:cNvPr>
          <p:cNvSpPr/>
          <p:nvPr/>
        </p:nvSpPr>
        <p:spPr>
          <a:xfrm>
            <a:off x="11173043" y="4501522"/>
            <a:ext cx="326130" cy="305509"/>
          </a:xfrm>
          <a:prstGeom prst="octagon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6" name="Arrow: Pentagon 175">
            <a:extLst>
              <a:ext uri="{FF2B5EF4-FFF2-40B4-BE49-F238E27FC236}">
                <a16:creationId xmlns:a16="http://schemas.microsoft.com/office/drawing/2014/main" id="{5CDB9441-0FFB-C880-813B-85B9867A270E}"/>
              </a:ext>
            </a:extLst>
          </p:cNvPr>
          <p:cNvSpPr/>
          <p:nvPr/>
        </p:nvSpPr>
        <p:spPr>
          <a:xfrm>
            <a:off x="8817313" y="3950959"/>
            <a:ext cx="905256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8B9E490A-6009-45D1-2BE7-95AE38FB93F7}"/>
              </a:ext>
            </a:extLst>
          </p:cNvPr>
          <p:cNvSpPr txBox="1"/>
          <p:nvPr/>
        </p:nvSpPr>
        <p:spPr>
          <a:xfrm>
            <a:off x="8817255" y="4030059"/>
            <a:ext cx="874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Workforce competency development</a:t>
            </a:r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AE88B801-B9C5-46EE-F35D-AEEA607CA60D}"/>
              </a:ext>
            </a:extLst>
          </p:cNvPr>
          <p:cNvSpPr/>
          <p:nvPr/>
        </p:nvSpPr>
        <p:spPr>
          <a:xfrm>
            <a:off x="8596910" y="3694556"/>
            <a:ext cx="3187632" cy="12344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16EF2DA9-2B71-9707-4ED9-8B53D2FA8F18}"/>
              </a:ext>
            </a:extLst>
          </p:cNvPr>
          <p:cNvSpPr txBox="1"/>
          <p:nvPr/>
        </p:nvSpPr>
        <p:spPr>
          <a:xfrm>
            <a:off x="8700549" y="3494114"/>
            <a:ext cx="2471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Readiness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23FCD7FB-26CB-E199-F181-79E1C936C115}"/>
              </a:ext>
            </a:extLst>
          </p:cNvPr>
          <p:cNvSpPr txBox="1"/>
          <p:nvPr/>
        </p:nvSpPr>
        <p:spPr>
          <a:xfrm>
            <a:off x="8988202" y="3162408"/>
            <a:ext cx="10745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WB 2, 3, 5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B7045A8-26CF-1391-2C98-06011505AD30}"/>
              </a:ext>
            </a:extLst>
          </p:cNvPr>
          <p:cNvSpPr txBox="1"/>
          <p:nvPr/>
        </p:nvSpPr>
        <p:spPr>
          <a:xfrm>
            <a:off x="9656298" y="4578720"/>
            <a:ext cx="13147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 7,8, 18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5711BCC-426F-0866-8A29-AC9521B5446E}"/>
              </a:ext>
            </a:extLst>
          </p:cNvPr>
          <p:cNvSpPr txBox="1"/>
          <p:nvPr/>
        </p:nvSpPr>
        <p:spPr>
          <a:xfrm>
            <a:off x="6102643" y="4409679"/>
            <a:ext cx="12352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  <a:r>
              <a:rPr lang="en-US" sz="105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EB8D083-4D06-1EEC-2E7A-59A3A19D0EF9}"/>
              </a:ext>
            </a:extLst>
          </p:cNvPr>
          <p:cNvSpPr txBox="1"/>
          <p:nvPr/>
        </p:nvSpPr>
        <p:spPr>
          <a:xfrm>
            <a:off x="5187549" y="5369279"/>
            <a:ext cx="1235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Handover package will be given for implementation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88BFA3F7-8253-29D4-BCA5-84134D7C798D}"/>
              </a:ext>
            </a:extLst>
          </p:cNvPr>
          <p:cNvSpPr txBox="1"/>
          <p:nvPr/>
        </p:nvSpPr>
        <p:spPr>
          <a:xfrm>
            <a:off x="9200294" y="6280305"/>
            <a:ext cx="16775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 12, 13, 14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F1A9CB-0AF9-E422-5400-C822511A692D}"/>
              </a:ext>
            </a:extLst>
          </p:cNvPr>
          <p:cNvSpPr txBox="1"/>
          <p:nvPr/>
        </p:nvSpPr>
        <p:spPr>
          <a:xfrm>
            <a:off x="10617440" y="3146131"/>
            <a:ext cx="11007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RACI (Pol 01-10) RACI – S3</a:t>
            </a:r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407893F8-164B-A5C6-46B9-417AEDFCA3FD}"/>
              </a:ext>
            </a:extLst>
          </p:cNvPr>
          <p:cNvSpPr/>
          <p:nvPr/>
        </p:nvSpPr>
        <p:spPr>
          <a:xfrm>
            <a:off x="8168512" y="2541506"/>
            <a:ext cx="334455" cy="1350278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284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2B577-B202-CC8D-15D0-88BF85D04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9080456-EF0D-51F0-4DDE-00C67DF2C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2075687"/>
            <a:ext cx="1536011" cy="124702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isometricOffAxis1Right"/>
            <a:lightRig rig="threePt" dir="t"/>
          </a:scene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7976F4-E622-8C18-E7B0-7D653F6B82BB}"/>
              </a:ext>
            </a:extLst>
          </p:cNvPr>
          <p:cNvSpPr txBox="1"/>
          <p:nvPr/>
        </p:nvSpPr>
        <p:spPr>
          <a:xfrm>
            <a:off x="137160" y="1263675"/>
            <a:ext cx="20939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Resource has an idea and submits the Business Process Discovery Form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AD72E2B-2895-C409-DBEE-B513581A128B}"/>
              </a:ext>
            </a:extLst>
          </p:cNvPr>
          <p:cNvCxnSpPr>
            <a:cxnSpLocks/>
          </p:cNvCxnSpPr>
          <p:nvPr/>
        </p:nvCxnSpPr>
        <p:spPr>
          <a:xfrm>
            <a:off x="969174" y="3429000"/>
            <a:ext cx="0" cy="106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phic 10" descr="Group of people outline">
            <a:extLst>
              <a:ext uri="{FF2B5EF4-FFF2-40B4-BE49-F238E27FC236}">
                <a16:creationId xmlns:a16="http://schemas.microsoft.com/office/drawing/2014/main" id="{BB84C13D-1723-C860-85AE-A75E354F5D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556" y="4650771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D44095-B9EB-D5F5-7389-AAC42746E8AD}"/>
              </a:ext>
            </a:extLst>
          </p:cNvPr>
          <p:cNvSpPr txBox="1"/>
          <p:nvPr/>
        </p:nvSpPr>
        <p:spPr>
          <a:xfrm>
            <a:off x="1128020" y="4965006"/>
            <a:ext cx="11959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PMO receives form, and has cross functional team make an assessment</a:t>
            </a:r>
          </a:p>
        </p:txBody>
      </p:sp>
      <p:sp>
        <p:nvSpPr>
          <p:cNvPr id="14" name="Diamond 13">
            <a:extLst>
              <a:ext uri="{FF2B5EF4-FFF2-40B4-BE49-F238E27FC236}">
                <a16:creationId xmlns:a16="http://schemas.microsoft.com/office/drawing/2014/main" id="{D25E3337-9959-C03D-42D5-C16A4F0EE8EA}"/>
              </a:ext>
            </a:extLst>
          </p:cNvPr>
          <p:cNvSpPr/>
          <p:nvPr/>
        </p:nvSpPr>
        <p:spPr>
          <a:xfrm>
            <a:off x="2946461" y="4989099"/>
            <a:ext cx="1351013" cy="1152144"/>
          </a:xfrm>
          <a:prstGeom prst="diamond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Should this be an AI project?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10030F2-5966-1803-AC1C-8B31DAE898AB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3621968" y="4524181"/>
            <a:ext cx="7995" cy="464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B1CFFDB-A5C4-1EC8-39C7-AACA733FD7AF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2323970" y="5472838"/>
            <a:ext cx="622491" cy="92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ED47FAD-BFE9-EA2A-1CB8-5A285CE0F540}"/>
              </a:ext>
            </a:extLst>
          </p:cNvPr>
          <p:cNvCxnSpPr>
            <a:cxnSpLocks/>
            <a:stCxn id="14" idx="2"/>
            <a:endCxn id="13" idx="2"/>
          </p:cNvCxnSpPr>
          <p:nvPr/>
        </p:nvCxnSpPr>
        <p:spPr>
          <a:xfrm rot="5400000" flipH="1">
            <a:off x="2593695" y="5112970"/>
            <a:ext cx="160574" cy="1895973"/>
          </a:xfrm>
          <a:prstGeom prst="bentConnector3">
            <a:avLst>
              <a:gd name="adj1" fmla="val -14236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F906463-3057-00FE-466D-9743AA80EEE6}"/>
              </a:ext>
            </a:extLst>
          </p:cNvPr>
          <p:cNvSpPr txBox="1"/>
          <p:nvPr/>
        </p:nvSpPr>
        <p:spPr>
          <a:xfrm>
            <a:off x="2331635" y="6054946"/>
            <a:ext cx="486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</a:p>
        </p:txBody>
      </p:sp>
      <p:graphicFrame>
        <p:nvGraphicFramePr>
          <p:cNvPr id="28" name="Diagram 27">
            <a:extLst>
              <a:ext uri="{FF2B5EF4-FFF2-40B4-BE49-F238E27FC236}">
                <a16:creationId xmlns:a16="http://schemas.microsoft.com/office/drawing/2014/main" id="{5F165867-D331-D3E2-9EDB-9B4A647897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9578156"/>
              </p:ext>
            </p:extLst>
          </p:nvPr>
        </p:nvGraphicFramePr>
        <p:xfrm>
          <a:off x="6743877" y="193679"/>
          <a:ext cx="1505714" cy="15696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E6AB7649-0993-BC87-879F-672F5F18E704}"/>
              </a:ext>
            </a:extLst>
          </p:cNvPr>
          <p:cNvSpPr txBox="1"/>
          <p:nvPr/>
        </p:nvSpPr>
        <p:spPr>
          <a:xfrm>
            <a:off x="3089611" y="4639925"/>
            <a:ext cx="68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FFD8FB-D982-C7AB-9113-CB41057CEBCC}"/>
              </a:ext>
            </a:extLst>
          </p:cNvPr>
          <p:cNvSpPr txBox="1"/>
          <p:nvPr/>
        </p:nvSpPr>
        <p:spPr>
          <a:xfrm>
            <a:off x="2477564" y="3635982"/>
            <a:ext cx="135100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AI/ Data Feasibility and Risk Assessment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AC2F7FC-B8F6-FE44-155B-74247397A620}"/>
              </a:ext>
            </a:extLst>
          </p:cNvPr>
          <p:cNvSpPr txBox="1"/>
          <p:nvPr/>
        </p:nvSpPr>
        <p:spPr>
          <a:xfrm>
            <a:off x="3120812" y="2564606"/>
            <a:ext cx="1451188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Privacy Review &amp; 3rd Party Risk Assessment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A4AC27C-91EE-C370-2014-169DF69FEB75}"/>
              </a:ext>
            </a:extLst>
          </p:cNvPr>
          <p:cNvSpPr txBox="1"/>
          <p:nvPr/>
        </p:nvSpPr>
        <p:spPr>
          <a:xfrm>
            <a:off x="9876117" y="790997"/>
            <a:ext cx="13853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Solution Design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6EA2621-D575-1C78-03C5-E9DDD98E8F3A}"/>
              </a:ext>
            </a:extLst>
          </p:cNvPr>
          <p:cNvSpPr txBox="1"/>
          <p:nvPr/>
        </p:nvSpPr>
        <p:spPr>
          <a:xfrm>
            <a:off x="9855811" y="3032308"/>
            <a:ext cx="13853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Validation and Testing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8426894-0CE4-8DBA-8127-84D26B28A39D}"/>
              </a:ext>
            </a:extLst>
          </p:cNvPr>
          <p:cNvSpPr txBox="1"/>
          <p:nvPr/>
        </p:nvSpPr>
        <p:spPr>
          <a:xfrm>
            <a:off x="9945084" y="4355419"/>
            <a:ext cx="17430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Deployment Authorization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2A983B2-6273-164E-030F-0B493FAC6E91}"/>
              </a:ext>
            </a:extLst>
          </p:cNvPr>
          <p:cNvSpPr txBox="1"/>
          <p:nvPr/>
        </p:nvSpPr>
        <p:spPr>
          <a:xfrm>
            <a:off x="3601630" y="4338343"/>
            <a:ext cx="1854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AI use case is captured into the AI register and Assessment is triggered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A4852CA-0FE1-2E53-0E92-766CF2E14B76}"/>
              </a:ext>
            </a:extLst>
          </p:cNvPr>
          <p:cNvSpPr txBox="1"/>
          <p:nvPr/>
        </p:nvSpPr>
        <p:spPr>
          <a:xfrm>
            <a:off x="4623061" y="2373785"/>
            <a:ext cx="15674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Inputs from these assessments leads to the value realization and use case prioritization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1C2E675-CB36-51A2-426C-1C7189C92C86}"/>
              </a:ext>
            </a:extLst>
          </p:cNvPr>
          <p:cNvSpPr txBox="1"/>
          <p:nvPr/>
        </p:nvSpPr>
        <p:spPr>
          <a:xfrm>
            <a:off x="4426065" y="1014232"/>
            <a:ext cx="24719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If passing these assessments and use case is prioritized, then information is input into the AI Intake form for the Governance Committee approval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0A2B5032-55AD-7D30-E113-00CE83C5D7D4}"/>
              </a:ext>
            </a:extLst>
          </p:cNvPr>
          <p:cNvSpPr txBox="1"/>
          <p:nvPr/>
        </p:nvSpPr>
        <p:spPr>
          <a:xfrm>
            <a:off x="7818285" y="185471"/>
            <a:ext cx="3829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AI Governance Committee makes decision on investment after reviewing all information in the AI Intake Form</a:t>
            </a:r>
          </a:p>
        </p:txBody>
      </p: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CE0B9D52-71B8-5C80-C433-02066B179704}"/>
              </a:ext>
            </a:extLst>
          </p:cNvPr>
          <p:cNvCxnSpPr>
            <a:cxnSpLocks/>
            <a:stCxn id="28" idx="3"/>
            <a:endCxn id="85" idx="1"/>
          </p:cNvCxnSpPr>
          <p:nvPr/>
        </p:nvCxnSpPr>
        <p:spPr>
          <a:xfrm>
            <a:off x="8249591" y="978509"/>
            <a:ext cx="1552580" cy="8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CDF5BA92-26A1-6D34-DAD9-56664B84ABC9}"/>
              </a:ext>
            </a:extLst>
          </p:cNvPr>
          <p:cNvCxnSpPr>
            <a:cxnSpLocks/>
          </p:cNvCxnSpPr>
          <p:nvPr/>
        </p:nvCxnSpPr>
        <p:spPr>
          <a:xfrm>
            <a:off x="10435958" y="2362200"/>
            <a:ext cx="5326" cy="54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FEB001E6-E825-67BB-7CE2-865825CF1C9C}"/>
              </a:ext>
            </a:extLst>
          </p:cNvPr>
          <p:cNvSpPr/>
          <p:nvPr/>
        </p:nvSpPr>
        <p:spPr>
          <a:xfrm>
            <a:off x="3704758" y="3615018"/>
            <a:ext cx="1451189" cy="615553"/>
          </a:xfrm>
          <a:prstGeom prst="chevron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5C8493-EE03-92AE-6F61-2DF0BEBFF18F}"/>
              </a:ext>
            </a:extLst>
          </p:cNvPr>
          <p:cNvCxnSpPr>
            <a:cxnSpLocks/>
          </p:cNvCxnSpPr>
          <p:nvPr/>
        </p:nvCxnSpPr>
        <p:spPr>
          <a:xfrm flipV="1">
            <a:off x="3722717" y="3158905"/>
            <a:ext cx="0" cy="343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2F85F00-F2AB-FE2F-5778-F3C052B4294C}"/>
              </a:ext>
            </a:extLst>
          </p:cNvPr>
          <p:cNvSpPr txBox="1"/>
          <p:nvPr/>
        </p:nvSpPr>
        <p:spPr>
          <a:xfrm>
            <a:off x="3968872" y="3707350"/>
            <a:ext cx="10256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Case Prioritization</a:t>
            </a: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371C8124-7A0E-F652-232C-AED0E5D9C577}"/>
              </a:ext>
            </a:extLst>
          </p:cNvPr>
          <p:cNvCxnSpPr>
            <a:cxnSpLocks/>
            <a:endCxn id="28" idx="1"/>
          </p:cNvCxnSpPr>
          <p:nvPr/>
        </p:nvCxnSpPr>
        <p:spPr>
          <a:xfrm flipV="1">
            <a:off x="3721279" y="978509"/>
            <a:ext cx="3022598" cy="1429777"/>
          </a:xfrm>
          <a:prstGeom prst="bentConnector3">
            <a:avLst>
              <a:gd name="adj1" fmla="val 8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Arrow: Pentagon 76">
            <a:extLst>
              <a:ext uri="{FF2B5EF4-FFF2-40B4-BE49-F238E27FC236}">
                <a16:creationId xmlns:a16="http://schemas.microsoft.com/office/drawing/2014/main" id="{77199BE9-D734-FD6D-BFB3-799B95AD4F27}"/>
              </a:ext>
            </a:extLst>
          </p:cNvPr>
          <p:cNvSpPr/>
          <p:nvPr/>
        </p:nvSpPr>
        <p:spPr>
          <a:xfrm>
            <a:off x="2473439" y="3615018"/>
            <a:ext cx="1470018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Arrow: Pentagon 80">
            <a:extLst>
              <a:ext uri="{FF2B5EF4-FFF2-40B4-BE49-F238E27FC236}">
                <a16:creationId xmlns:a16="http://schemas.microsoft.com/office/drawing/2014/main" id="{7F46A31A-D4C4-7F69-A535-C5158F828307}"/>
              </a:ext>
            </a:extLst>
          </p:cNvPr>
          <p:cNvSpPr/>
          <p:nvPr/>
        </p:nvSpPr>
        <p:spPr>
          <a:xfrm>
            <a:off x="3125515" y="2510846"/>
            <a:ext cx="1470018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Arrow: Pentagon 84">
            <a:extLst>
              <a:ext uri="{FF2B5EF4-FFF2-40B4-BE49-F238E27FC236}">
                <a16:creationId xmlns:a16="http://schemas.microsoft.com/office/drawing/2014/main" id="{C8D9DD05-5A2F-1740-C452-7A86C741CC3C}"/>
              </a:ext>
            </a:extLst>
          </p:cNvPr>
          <p:cNvSpPr/>
          <p:nvPr/>
        </p:nvSpPr>
        <p:spPr>
          <a:xfrm>
            <a:off x="9802171" y="679305"/>
            <a:ext cx="1470018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9" name="Arrow: Pentagon 98">
            <a:extLst>
              <a:ext uri="{FF2B5EF4-FFF2-40B4-BE49-F238E27FC236}">
                <a16:creationId xmlns:a16="http://schemas.microsoft.com/office/drawing/2014/main" id="{E130A641-346F-5914-0F7E-B9B6EB77A81C}"/>
              </a:ext>
            </a:extLst>
          </p:cNvPr>
          <p:cNvSpPr/>
          <p:nvPr/>
        </p:nvSpPr>
        <p:spPr>
          <a:xfrm>
            <a:off x="9753600" y="2932702"/>
            <a:ext cx="1470018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1" name="Arrow: Pentagon 100">
            <a:extLst>
              <a:ext uri="{FF2B5EF4-FFF2-40B4-BE49-F238E27FC236}">
                <a16:creationId xmlns:a16="http://schemas.microsoft.com/office/drawing/2014/main" id="{461F9CA6-52FE-6BD5-C770-898E828D65A6}"/>
              </a:ext>
            </a:extLst>
          </p:cNvPr>
          <p:cNvSpPr/>
          <p:nvPr/>
        </p:nvSpPr>
        <p:spPr>
          <a:xfrm>
            <a:off x="9795920" y="4252367"/>
            <a:ext cx="1470018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521ABEB-16D6-27C5-7173-43B38E64A86B}"/>
              </a:ext>
            </a:extLst>
          </p:cNvPr>
          <p:cNvCxnSpPr>
            <a:cxnSpLocks/>
          </p:cNvCxnSpPr>
          <p:nvPr/>
        </p:nvCxnSpPr>
        <p:spPr>
          <a:xfrm>
            <a:off x="10389289" y="3654368"/>
            <a:ext cx="5326" cy="54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4CCD4379-C353-8E8A-FEC9-3F73A76EC3EC}"/>
              </a:ext>
            </a:extLst>
          </p:cNvPr>
          <p:cNvSpPr txBox="1"/>
          <p:nvPr/>
        </p:nvSpPr>
        <p:spPr>
          <a:xfrm>
            <a:off x="9945084" y="5579558"/>
            <a:ext cx="132085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Ongoing Monitoring and Compliance</a:t>
            </a:r>
          </a:p>
        </p:txBody>
      </p:sp>
      <p:sp>
        <p:nvSpPr>
          <p:cNvPr id="107" name="Arrow: Pentagon 106">
            <a:extLst>
              <a:ext uri="{FF2B5EF4-FFF2-40B4-BE49-F238E27FC236}">
                <a16:creationId xmlns:a16="http://schemas.microsoft.com/office/drawing/2014/main" id="{BA5E7C0F-435D-C5F6-B96F-C7CD425F66CE}"/>
              </a:ext>
            </a:extLst>
          </p:cNvPr>
          <p:cNvSpPr/>
          <p:nvPr/>
        </p:nvSpPr>
        <p:spPr>
          <a:xfrm>
            <a:off x="9795920" y="5558333"/>
            <a:ext cx="1470018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C8D3304-1BD6-CC25-DCC5-31217020D267}"/>
              </a:ext>
            </a:extLst>
          </p:cNvPr>
          <p:cNvCxnSpPr>
            <a:cxnSpLocks/>
          </p:cNvCxnSpPr>
          <p:nvPr/>
        </p:nvCxnSpPr>
        <p:spPr>
          <a:xfrm>
            <a:off x="10389289" y="4948733"/>
            <a:ext cx="5326" cy="54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9494E67-3016-7871-1B29-0B0B2951B6A2}"/>
              </a:ext>
            </a:extLst>
          </p:cNvPr>
          <p:cNvSpPr txBox="1"/>
          <p:nvPr/>
        </p:nvSpPr>
        <p:spPr>
          <a:xfrm>
            <a:off x="9874215" y="1773340"/>
            <a:ext cx="13853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Operational Readiness</a:t>
            </a:r>
          </a:p>
        </p:txBody>
      </p:sp>
      <p:sp>
        <p:nvSpPr>
          <p:cNvPr id="6" name="Arrow: Pentagon 5">
            <a:extLst>
              <a:ext uri="{FF2B5EF4-FFF2-40B4-BE49-F238E27FC236}">
                <a16:creationId xmlns:a16="http://schemas.microsoft.com/office/drawing/2014/main" id="{CA07F574-8F9D-9E5D-05F1-9AB78DADEA1B}"/>
              </a:ext>
            </a:extLst>
          </p:cNvPr>
          <p:cNvSpPr/>
          <p:nvPr/>
        </p:nvSpPr>
        <p:spPr>
          <a:xfrm>
            <a:off x="9800269" y="1661648"/>
            <a:ext cx="1470018" cy="615553"/>
          </a:xfrm>
          <a:prstGeom prst="homePlat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E0A15B-B517-C84B-817D-E231A0A63B8F}"/>
              </a:ext>
            </a:extLst>
          </p:cNvPr>
          <p:cNvSpPr txBox="1"/>
          <p:nvPr/>
        </p:nvSpPr>
        <p:spPr>
          <a:xfrm>
            <a:off x="8372593" y="1499616"/>
            <a:ext cx="150162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AI Solution Architects review policies to identify mandated controls and seek approvals through the identified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A31F4-782D-9314-D260-F7C71BD1ACD3}"/>
              </a:ext>
            </a:extLst>
          </p:cNvPr>
          <p:cNvSpPr txBox="1"/>
          <p:nvPr/>
        </p:nvSpPr>
        <p:spPr>
          <a:xfrm>
            <a:off x="8372593" y="3143524"/>
            <a:ext cx="1235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US" sz="120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Handover package will be given for implementation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08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78F2-984B-E811-F475-3FDA3A11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9847C-B4BB-AD3F-C12A-CED4EE0D1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609600"/>
            <a:ext cx="10363200" cy="609600"/>
          </a:xfrm>
        </p:spPr>
        <p:txBody>
          <a:bodyPr wrap="square">
            <a:noAutofit/>
          </a:bodyPr>
          <a:lstStyle/>
          <a:p>
            <a:r>
              <a:rPr lang="en-US"/>
              <a:t>Regulatory Mapping Feeds the Control Functions</a:t>
            </a:r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91D003-BDD4-91B7-50A9-048D3604C428}"/>
              </a:ext>
            </a:extLst>
          </p:cNvPr>
          <p:cNvSpPr txBox="1"/>
          <p:nvPr/>
        </p:nvSpPr>
        <p:spPr>
          <a:xfrm>
            <a:off x="10820365" y="6473952"/>
            <a:ext cx="91442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5DB236-FEE7-F3DB-45AA-E394964BC6AA}"/>
              </a:ext>
            </a:extLst>
          </p:cNvPr>
          <p:cNvSpPr txBox="1"/>
          <p:nvPr/>
        </p:nvSpPr>
        <p:spPr>
          <a:xfrm>
            <a:off x="1075268" y="1767006"/>
            <a:ext cx="342889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USE CASE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ASSESS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Opportunity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MAP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REGULATORY / POLICY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UNCOVER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GOVERNANCE REQUIREMENT       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IDENTIFY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CONTROL REQUIREMENT       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DEFINE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CONTROL FUNCTION       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IMPLEMENT CONTROL       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GOVERNANCE EVIDENCE</a:t>
            </a:r>
            <a:endParaRPr kumimoji="0" lang="en-I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F02620-2A2A-59BE-8438-180D5BD5D980}"/>
              </a:ext>
            </a:extLst>
          </p:cNvPr>
          <p:cNvSpPr txBox="1"/>
          <p:nvPr/>
        </p:nvSpPr>
        <p:spPr>
          <a:xfrm>
            <a:off x="4961467" y="1219200"/>
            <a:ext cx="7128919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Example: Protect Confidential Legal Information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IN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Regulatory / Legal Context: </a:t>
            </a: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Attorney-client privilege and applicable information protection obligations.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I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GOVERN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Define accountability, policy and approval requirements.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IDENTIFY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Identify privileged data, users, systems and data flows.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PROTECT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Apply least privilege, access controls, data protection and DLP.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DETECT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Monitor access, usage and policy events.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RESPOND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Contain and investigate potential exposure.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↓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RECOVER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Restore normal operations and update controls.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93A65DA-4F3B-0038-208D-4A2DC1E6917B}"/>
              </a:ext>
            </a:extLst>
          </p:cNvPr>
          <p:cNvCxnSpPr>
            <a:cxnSpLocks/>
          </p:cNvCxnSpPr>
          <p:nvPr/>
        </p:nvCxnSpPr>
        <p:spPr>
          <a:xfrm>
            <a:off x="4656618" y="1497535"/>
            <a:ext cx="0" cy="44908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10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rmAutofit/>
          </a:bodyPr>
          <a:lstStyle/>
          <a:p>
            <a:r>
              <a:rPr lang="en-US" dirty="0"/>
              <a:t>Governance Demonstration</a:t>
            </a:r>
            <a:br>
              <a:rPr lang="en-US" dirty="0"/>
            </a:br>
            <a:r>
              <a:rPr lang="en-US" dirty="0"/>
              <a:t>Copilot for legal</a:t>
            </a:r>
            <a:endParaRPr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15D604C7-C176-3C9D-E20D-BFD7AB3963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z="1600" dirty="0"/>
              <a:t>From AI Capability to Controlled Business Use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0" y="609600"/>
            <a:ext cx="10363200" cy="609600"/>
          </a:xfrm>
        </p:spPr>
        <p:txBody>
          <a:bodyPr/>
          <a:lstStyle/>
          <a:p>
            <a:r>
              <a:rPr lang="en-US" sz="2800" dirty="0"/>
              <a:t>Before governing AI, understand the business activity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" y="1106424"/>
            <a:ext cx="10058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20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</a:rPr>
              <a:t>ASSESSMENT · THE COPILOT FOR LEGAL USE CASE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8C8C8C"/>
                </a:solidFill>
                <a:effectLst/>
                <a:uLnTx/>
                <a:uFillTx/>
                <a:latin typeface="Calibri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8C8C8C"/>
              </a:solidFill>
              <a:effectLst/>
              <a:uLnTx/>
              <a:uFillTx/>
              <a:latin typeface="Calibri"/>
            </a:endParaRP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2496312" y="2819400"/>
            <a:ext cx="3634741" cy="685800"/>
          </a:xfrm>
          <a:prstGeom prst="line">
            <a:avLst/>
          </a:prstGeom>
          <a:ln w="19050">
            <a:solidFill>
              <a:srgbClr val="99D6E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2496312" y="3505200"/>
            <a:ext cx="3634741" cy="868680"/>
          </a:xfrm>
          <a:prstGeom prst="line">
            <a:avLst/>
          </a:prstGeom>
          <a:ln w="19050">
            <a:solidFill>
              <a:srgbClr val="99D6E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131053" y="2819400"/>
            <a:ext cx="3634739" cy="685800"/>
          </a:xfrm>
          <a:prstGeom prst="line">
            <a:avLst/>
          </a:prstGeom>
          <a:ln w="19050">
            <a:solidFill>
              <a:srgbClr val="99D6EA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131053" y="3505200"/>
            <a:ext cx="3634739" cy="868680"/>
          </a:xfrm>
          <a:prstGeom prst="line">
            <a:avLst/>
          </a:prstGeom>
          <a:ln w="19050">
            <a:solidFill>
              <a:srgbClr val="99D6EA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6131052" y="3505200"/>
            <a:ext cx="1" cy="2194559"/>
          </a:xfrm>
          <a:prstGeom prst="line">
            <a:avLst/>
          </a:prstGeom>
          <a:ln w="19050">
            <a:solidFill>
              <a:srgbClr val="99D6EA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987553" y="222504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>
            <a:outerShdw blurRad="76200" dist="19050" dir="5400000" algn="t" rotWithShape="0">
              <a:srgbClr val="000000">
                <a:alpha val="14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pic>
        <p:nvPicPr>
          <p:cNvPr id="18" name="Picture 17" descr="MdPeopleOutline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45" y="2380488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36192" y="2353056"/>
            <a:ext cx="237743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150" normalizeH="0" baseline="0" noProof="0">
                <a:ln>
                  <a:noFill/>
                </a:ln>
                <a:solidFill>
                  <a:srgbClr val="0079CF"/>
                </a:solidFill>
                <a:effectLst/>
                <a:uLnTx/>
                <a:uFillTx/>
                <a:latin typeface="Calibri"/>
              </a:rPr>
              <a:t>WHO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5" y="2737104"/>
            <a:ext cx="271576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</a:rPr>
              <a:t>Legal users · Attorneys · Legal operations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3" y="377952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>
            <a:outerShdw blurRad="76200" dist="19050" dir="5400000" algn="t" rotWithShape="0">
              <a:srgbClr val="000000">
                <a:alpha val="14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pic>
        <p:nvPicPr>
          <p:cNvPr id="22" name="Picture 21" descr="MdPlace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5" y="3934968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36192" y="3907536"/>
            <a:ext cx="237743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150" normalizeH="0" baseline="0" noProof="0">
                <a:ln>
                  <a:noFill/>
                </a:ln>
                <a:solidFill>
                  <a:srgbClr val="0079CF"/>
                </a:solidFill>
                <a:effectLst/>
                <a:uLnTx/>
                <a:uFillTx/>
                <a:latin typeface="Calibri"/>
              </a:rPr>
              <a:t>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5" y="4291583"/>
            <a:ext cx="271576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</a:rPr>
              <a:t>Microsoft 365 · Internal legal repositories · Corporate Copilot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57032" y="222504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>
            <a:outerShdw blurRad="76200" dist="19050" dir="5400000" algn="t" rotWithShape="0">
              <a:srgbClr val="000000">
                <a:alpha val="14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pic>
        <p:nvPicPr>
          <p:cNvPr id="26" name="Picture 25" descr="MdEditNot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1624" y="2380488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805672" y="2353056"/>
            <a:ext cx="237743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150" normalizeH="0" baseline="0" noProof="0">
                <a:ln>
                  <a:noFill/>
                </a:ln>
                <a:solidFill>
                  <a:srgbClr val="0079CF"/>
                </a:solidFill>
                <a:effectLst/>
                <a:uLnTx/>
                <a:uFillTx/>
                <a:latin typeface="Calibri"/>
              </a:rPr>
              <a:t>WHAT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2737104"/>
            <a:ext cx="271576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</a:rPr>
              <a:t>Summarize documents · Research information · Draft responses · Generate content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57032" y="3779520"/>
            <a:ext cx="3017520" cy="1188720"/>
          </a:xfrm>
          <a:prstGeom prst="rect">
            <a:avLst/>
          </a:prstGeom>
          <a:solidFill>
            <a:srgbClr val="E8F2FB"/>
          </a:solidFill>
          <a:ln w="9525">
            <a:solidFill>
              <a:srgbClr val="0079CF"/>
            </a:solidFill>
          </a:ln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pic>
        <p:nvPicPr>
          <p:cNvPr id="30" name="Picture 29" descr="MdLockOutlin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3934968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805672" y="3907536"/>
            <a:ext cx="237743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150" normalizeH="0" baseline="0" noProof="0">
                <a:ln>
                  <a:noFill/>
                </a:ln>
                <a:solidFill>
                  <a:srgbClr val="0079CF"/>
                </a:solidFill>
                <a:effectLst/>
                <a:uLnTx/>
                <a:uFillTx/>
                <a:latin typeface="Calibri"/>
              </a:rPr>
              <a:t>WHAT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1624" y="4291583"/>
            <a:ext cx="271576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</a:rPr>
              <a:t>Legal documents · Confidential &amp; privileged information · User identity · Prompts and responses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22293" y="5151120"/>
            <a:ext cx="30175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>
            <a:outerShdw blurRad="76200" dist="19050" dir="5400000" algn="t" rotWithShape="0">
              <a:srgbClr val="000000">
                <a:alpha val="14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</a:endParaRPr>
          </a:p>
        </p:txBody>
      </p:sp>
      <p:pic>
        <p:nvPicPr>
          <p:cNvPr id="34" name="Picture 33" descr="MdPsychology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6885" y="5306568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70932" y="5279136"/>
            <a:ext cx="237743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150" normalizeH="0" baseline="0" noProof="0">
                <a:ln>
                  <a:noFill/>
                </a:ln>
                <a:solidFill>
                  <a:srgbClr val="0079CF"/>
                </a:solidFill>
                <a:effectLst/>
                <a:uLnTx/>
                <a:uFillTx/>
                <a:latin typeface="Calibri"/>
              </a:rPr>
              <a:t>WHAT DECISIONS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86885" y="5663183"/>
            <a:ext cx="27157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</a:rPr>
              <a:t>AI assists the user; the human remains responsible for consequential use</a:t>
            </a:r>
          </a:p>
        </p:txBody>
      </p:sp>
      <p:sp>
        <p:nvSpPr>
          <p:cNvPr id="37" name="Oval 36"/>
          <p:cNvSpPr/>
          <p:nvPr/>
        </p:nvSpPr>
        <p:spPr>
          <a:xfrm>
            <a:off x="5239513" y="2613660"/>
            <a:ext cx="1783080" cy="1783080"/>
          </a:xfrm>
          <a:prstGeom prst="ellipse">
            <a:avLst/>
          </a:prstGeom>
          <a:solidFill>
            <a:srgbClr val="01376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150" normalizeH="0" baseline="0" noProof="0">
                <a:ln>
                  <a:noFill/>
                </a:ln>
                <a:solidFill>
                  <a:srgbClr val="99D6EA"/>
                </a:solidFill>
                <a:effectLst/>
                <a:uLnTx/>
                <a:uFillTx/>
                <a:latin typeface="Calibri"/>
              </a:rPr>
              <a:t>AI USE CASE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</a:rPr>
              <a:t>Copilot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</a:rPr>
              <a:t>for Legal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23C46-C6B7-0601-5939-916B4A221EF9}"/>
              </a:ext>
            </a:extLst>
          </p:cNvPr>
          <p:cNvSpPr txBox="1"/>
          <p:nvPr/>
        </p:nvSpPr>
        <p:spPr>
          <a:xfrm>
            <a:off x="4688840" y="1488103"/>
            <a:ext cx="3017519" cy="954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600" b="1" dirty="0">
                <a:solidFill>
                  <a:srgbClr val="000000"/>
                </a:solidFill>
              </a:rPr>
              <a:t>Why this matters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150" b="0" i="1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1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</a:rPr>
              <a:t>The governance requirement is driven by 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1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</a:rPr>
              <a:t>how AI is being used in the business process, not simply by the fact that AI is present.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/>
              <a:t>What Are We Demonstrating?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10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27" name="Rectangle 127"/>
          <p:cNvSpPr/>
          <p:nvPr/>
        </p:nvSpPr>
        <p:spPr>
          <a:xfrm>
            <a:off x="1054100" y="1493520"/>
            <a:ext cx="10287000" cy="109728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>
              <a:spcBef>
                <a:spcPts val="600"/>
              </a:spcBef>
            </a:pPr>
            <a:r>
              <a:rPr lang="en-US" sz="2200" b="1" i="1" dirty="0">
                <a:solidFill>
                  <a:srgbClr val="FFFFFF"/>
                </a:solidFill>
                <a:latin typeface="Calibri"/>
              </a:rPr>
              <a:t>How does governance operate when AI becomes part of everyday work?</a:t>
            </a:r>
          </a:p>
        </p:txBody>
      </p:sp>
      <p:sp>
        <p:nvSpPr>
          <p:cNvPr id="12" name="TextBox 106"/>
          <p:cNvSpPr txBox="1"/>
          <p:nvPr/>
        </p:nvSpPr>
        <p:spPr>
          <a:xfrm>
            <a:off x="1092200" y="3206496"/>
            <a:ext cx="1028700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500" b="0" i="0" dirty="0">
                <a:solidFill>
                  <a:srgbClr val="262626"/>
                </a:solidFill>
                <a:latin typeface="Calibri"/>
              </a:rPr>
              <a:t>We will follow a day in the life of a  Legal professional through a normal working day and observe:</a:t>
            </a:r>
          </a:p>
        </p:txBody>
      </p:sp>
      <p:sp>
        <p:nvSpPr>
          <p:cNvPr id="13" name="Rectangle 107"/>
          <p:cNvSpPr/>
          <p:nvPr/>
        </p:nvSpPr>
        <p:spPr>
          <a:xfrm>
            <a:off x="1092200" y="3709416"/>
            <a:ext cx="1188720" cy="1143000"/>
          </a:xfrm>
          <a:prstGeom prst="roundRect">
            <a:avLst>
              <a:gd name="adj" fmla="val 8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" name="MdBusinessCenter_w.png" descr="MdBusinessCente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680" y="3819144"/>
            <a:ext cx="365760" cy="365760"/>
          </a:xfrm>
          <a:prstGeom prst="rect">
            <a:avLst/>
          </a:prstGeom>
        </p:spPr>
      </p:pic>
      <p:sp>
        <p:nvSpPr>
          <p:cNvPr id="15" name="TextBox 108"/>
          <p:cNvSpPr txBox="1"/>
          <p:nvPr/>
        </p:nvSpPr>
        <p:spPr>
          <a:xfrm>
            <a:off x="1137920" y="425805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Business Activity</a:t>
            </a:r>
          </a:p>
        </p:txBody>
      </p:sp>
      <p:cxnSp>
        <p:nvCxnSpPr>
          <p:cNvPr id="16" name="Connector 109"/>
          <p:cNvCxnSpPr/>
          <p:nvPr/>
        </p:nvCxnSpPr>
        <p:spPr>
          <a:xfrm>
            <a:off x="2317496" y="4280916"/>
            <a:ext cx="25450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7" name="Rectangle 110"/>
          <p:cNvSpPr/>
          <p:nvPr/>
        </p:nvSpPr>
        <p:spPr>
          <a:xfrm>
            <a:off x="2608580" y="3709416"/>
            <a:ext cx="1188720" cy="1143000"/>
          </a:xfrm>
          <a:prstGeom prst="roundRect">
            <a:avLst>
              <a:gd name="adj" fmla="val 8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8" name="MdWarningAmber_w.png" descr="MdWarningAmb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0060" y="3819144"/>
            <a:ext cx="365760" cy="365760"/>
          </a:xfrm>
          <a:prstGeom prst="rect">
            <a:avLst/>
          </a:prstGeom>
        </p:spPr>
      </p:pic>
      <p:sp>
        <p:nvSpPr>
          <p:cNvPr id="19" name="TextBox 111"/>
          <p:cNvSpPr txBox="1"/>
          <p:nvPr/>
        </p:nvSpPr>
        <p:spPr>
          <a:xfrm>
            <a:off x="2654300" y="425805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cxnSp>
        <p:nvCxnSpPr>
          <p:cNvPr id="20" name="Connector 112"/>
          <p:cNvCxnSpPr/>
          <p:nvPr/>
        </p:nvCxnSpPr>
        <p:spPr>
          <a:xfrm>
            <a:off x="3833876" y="4280916"/>
            <a:ext cx="25450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21" name="Rectangle 113"/>
          <p:cNvSpPr/>
          <p:nvPr/>
        </p:nvSpPr>
        <p:spPr>
          <a:xfrm>
            <a:off x="4124960" y="3709416"/>
            <a:ext cx="1188720" cy="1143000"/>
          </a:xfrm>
          <a:prstGeom prst="roundRect">
            <a:avLst>
              <a:gd name="adj" fmla="val 8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22" name="MdRuleFolder_w.png" descr="MdRuleFold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440" y="3819144"/>
            <a:ext cx="365760" cy="365760"/>
          </a:xfrm>
          <a:prstGeom prst="rect">
            <a:avLst/>
          </a:prstGeom>
        </p:spPr>
      </p:pic>
      <p:sp>
        <p:nvSpPr>
          <p:cNvPr id="23" name="TextBox 114"/>
          <p:cNvSpPr txBox="1"/>
          <p:nvPr/>
        </p:nvSpPr>
        <p:spPr>
          <a:xfrm>
            <a:off x="4170680" y="425805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Requirement</a:t>
            </a:r>
          </a:p>
        </p:txBody>
      </p:sp>
      <p:cxnSp>
        <p:nvCxnSpPr>
          <p:cNvPr id="24" name="Connector 115"/>
          <p:cNvCxnSpPr/>
          <p:nvPr/>
        </p:nvCxnSpPr>
        <p:spPr>
          <a:xfrm>
            <a:off x="5350256" y="4280916"/>
            <a:ext cx="25450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25" name="Rectangle 116"/>
          <p:cNvSpPr/>
          <p:nvPr/>
        </p:nvSpPr>
        <p:spPr>
          <a:xfrm>
            <a:off x="5641340" y="3709416"/>
            <a:ext cx="1188720" cy="1143000"/>
          </a:xfrm>
          <a:prstGeom prst="roundRect">
            <a:avLst>
              <a:gd name="adj" fmla="val 8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26" name="MdPolicy_w.png" descr="MdPolic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2820" y="3819144"/>
            <a:ext cx="365760" cy="365760"/>
          </a:xfrm>
          <a:prstGeom prst="rect">
            <a:avLst/>
          </a:prstGeom>
        </p:spPr>
      </p:pic>
      <p:sp>
        <p:nvSpPr>
          <p:cNvPr id="27" name="TextBox 117"/>
          <p:cNvSpPr txBox="1"/>
          <p:nvPr/>
        </p:nvSpPr>
        <p:spPr>
          <a:xfrm>
            <a:off x="5687060" y="425805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cxnSp>
        <p:nvCxnSpPr>
          <p:cNvPr id="28" name="Connector 118"/>
          <p:cNvCxnSpPr/>
          <p:nvPr/>
        </p:nvCxnSpPr>
        <p:spPr>
          <a:xfrm>
            <a:off x="6866636" y="4280916"/>
            <a:ext cx="25450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29" name="Rectangle 119"/>
          <p:cNvSpPr/>
          <p:nvPr/>
        </p:nvSpPr>
        <p:spPr>
          <a:xfrm>
            <a:off x="7157720" y="3709416"/>
            <a:ext cx="1188720" cy="1143000"/>
          </a:xfrm>
          <a:prstGeom prst="roundRect">
            <a:avLst>
              <a:gd name="adj" fmla="val 8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30" name="MdShield_w.png" descr="Md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9200" y="3819144"/>
            <a:ext cx="365760" cy="365760"/>
          </a:xfrm>
          <a:prstGeom prst="rect">
            <a:avLst/>
          </a:prstGeom>
        </p:spPr>
      </p:pic>
      <p:sp>
        <p:nvSpPr>
          <p:cNvPr id="31" name="TextBox 120"/>
          <p:cNvSpPr txBox="1"/>
          <p:nvPr/>
        </p:nvSpPr>
        <p:spPr>
          <a:xfrm>
            <a:off x="7203440" y="425805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cxnSp>
        <p:nvCxnSpPr>
          <p:cNvPr id="32" name="Connector 121"/>
          <p:cNvCxnSpPr/>
          <p:nvPr/>
        </p:nvCxnSpPr>
        <p:spPr>
          <a:xfrm>
            <a:off x="8383016" y="4280916"/>
            <a:ext cx="25450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33" name="Rectangle 122"/>
          <p:cNvSpPr/>
          <p:nvPr/>
        </p:nvSpPr>
        <p:spPr>
          <a:xfrm>
            <a:off x="8674100" y="3709416"/>
            <a:ext cx="1188720" cy="1143000"/>
          </a:xfrm>
          <a:prstGeom prst="roundRect">
            <a:avLst>
              <a:gd name="adj" fmla="val 8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34" name="MdTaskAlt_w.png" descr="MdTaskAl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5580" y="3819144"/>
            <a:ext cx="365760" cy="365760"/>
          </a:xfrm>
          <a:prstGeom prst="rect">
            <a:avLst/>
          </a:prstGeom>
        </p:spPr>
      </p:pic>
      <p:sp>
        <p:nvSpPr>
          <p:cNvPr id="35" name="TextBox 123"/>
          <p:cNvSpPr txBox="1"/>
          <p:nvPr/>
        </p:nvSpPr>
        <p:spPr>
          <a:xfrm>
            <a:off x="8719820" y="425805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cxnSp>
        <p:nvCxnSpPr>
          <p:cNvPr id="36" name="Connector 124"/>
          <p:cNvCxnSpPr/>
          <p:nvPr/>
        </p:nvCxnSpPr>
        <p:spPr>
          <a:xfrm>
            <a:off x="9899396" y="4280916"/>
            <a:ext cx="25450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37" name="Rectangle 125"/>
          <p:cNvSpPr/>
          <p:nvPr/>
        </p:nvSpPr>
        <p:spPr>
          <a:xfrm>
            <a:off x="10190480" y="3709416"/>
            <a:ext cx="1188720" cy="1143000"/>
          </a:xfrm>
          <a:prstGeom prst="roundRect">
            <a:avLst>
              <a:gd name="adj" fmla="val 8000"/>
            </a:avLst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38" name="MdFactCheck_w.png" descr="MdFact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1960" y="3819144"/>
            <a:ext cx="365760" cy="365760"/>
          </a:xfrm>
          <a:prstGeom prst="rect">
            <a:avLst/>
          </a:prstGeom>
        </p:spPr>
      </p:pic>
      <p:sp>
        <p:nvSpPr>
          <p:cNvPr id="39" name="TextBox 126"/>
          <p:cNvSpPr txBox="1"/>
          <p:nvPr/>
        </p:nvSpPr>
        <p:spPr>
          <a:xfrm>
            <a:off x="10236200" y="425805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Meet Maria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11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1014984" y="1106424"/>
            <a:ext cx="100584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A Day in the Life of a Legal Professional</a:t>
            </a:r>
          </a:p>
        </p:txBody>
      </p:sp>
      <p:sp>
        <p:nvSpPr>
          <p:cNvPr id="103" name="Rectangle 103"/>
          <p:cNvSpPr/>
          <p:nvPr/>
        </p:nvSpPr>
        <p:spPr>
          <a:xfrm>
            <a:off x="1097280" y="1508760"/>
            <a:ext cx="43434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04" name="Oval 104"/>
          <p:cNvSpPr/>
          <p:nvPr/>
        </p:nvSpPr>
        <p:spPr>
          <a:xfrm>
            <a:off x="1371600" y="1783080"/>
            <a:ext cx="822960" cy="8229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05" name="MdPerson_w.png" descr="MdPerso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651" y="1964131"/>
            <a:ext cx="460858" cy="460858"/>
          </a:xfrm>
          <a:prstGeom prst="rect">
            <a:avLst/>
          </a:prstGeom>
        </p:spPr>
      </p:pic>
      <p:sp>
        <p:nvSpPr>
          <p:cNvPr id="3" name="TextBox 105"/>
          <p:cNvSpPr txBox="1"/>
          <p:nvPr/>
        </p:nvSpPr>
        <p:spPr>
          <a:xfrm>
            <a:off x="2377440" y="178308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1" i="0" dirty="0">
                <a:solidFill>
                  <a:srgbClr val="013765"/>
                </a:solidFill>
                <a:latin typeface="Calibri"/>
              </a:rPr>
              <a:t>Maria - Legal Counsel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1371600" y="27889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Maria uses Copilot as part of her normal workday.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1371600" y="32004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900" b="1" i="0" cap="all" spc="150" dirty="0">
                <a:solidFill>
                  <a:srgbClr val="0079CF"/>
                </a:solidFill>
                <a:latin typeface="Calibri"/>
              </a:rPr>
              <a:t>She may use it to:</a:t>
            </a:r>
          </a:p>
        </p:txBody>
      </p:sp>
      <p:pic>
        <p:nvPicPr>
          <p:cNvPr id="108" name="MdDescription_b.png" descr="MdDescription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575304"/>
            <a:ext cx="274320" cy="274320"/>
          </a:xfrm>
          <a:prstGeom prst="rect">
            <a:avLst/>
          </a:prstGeom>
        </p:spPr>
      </p:pic>
      <p:sp>
        <p:nvSpPr>
          <p:cNvPr id="4" name="TextBox 108"/>
          <p:cNvSpPr txBox="1"/>
          <p:nvPr/>
        </p:nvSpPr>
        <p:spPr>
          <a:xfrm>
            <a:off x="1737360" y="3520440"/>
            <a:ext cx="1572768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200" b="1" i="0" dirty="0">
                <a:solidFill>
                  <a:srgbClr val="262626"/>
                </a:solidFill>
                <a:latin typeface="Calibri"/>
              </a:rPr>
              <a:t>Review contracts</a:t>
            </a:r>
          </a:p>
        </p:txBody>
      </p:sp>
      <p:pic>
        <p:nvPicPr>
          <p:cNvPr id="109" name="MdSearch_b.png" descr="MdSearch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142232"/>
            <a:ext cx="274320" cy="274320"/>
          </a:xfrm>
          <a:prstGeom prst="rect">
            <a:avLst/>
          </a:prstGeom>
        </p:spPr>
      </p:pic>
      <p:sp>
        <p:nvSpPr>
          <p:cNvPr id="5" name="TextBox 109"/>
          <p:cNvSpPr txBox="1"/>
          <p:nvPr/>
        </p:nvSpPr>
        <p:spPr>
          <a:xfrm>
            <a:off x="1737360" y="4087368"/>
            <a:ext cx="1572768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200" b="1" i="0" dirty="0">
                <a:solidFill>
                  <a:srgbClr val="262626"/>
                </a:solidFill>
                <a:latin typeface="Calibri"/>
              </a:rPr>
              <a:t>Find information</a:t>
            </a:r>
          </a:p>
        </p:txBody>
      </p:sp>
      <p:pic>
        <p:nvPicPr>
          <p:cNvPr id="110" name="MdCompareArrows_b.png" descr="MdCompareArrows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4709160"/>
            <a:ext cx="274320" cy="274320"/>
          </a:xfrm>
          <a:prstGeom prst="rect">
            <a:avLst/>
          </a:prstGeom>
        </p:spPr>
      </p:pic>
      <p:sp>
        <p:nvSpPr>
          <p:cNvPr id="6" name="TextBox 110"/>
          <p:cNvSpPr txBox="1"/>
          <p:nvPr/>
        </p:nvSpPr>
        <p:spPr>
          <a:xfrm>
            <a:off x="1737360" y="4654296"/>
            <a:ext cx="1572768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200" b="1" i="0" dirty="0">
                <a:solidFill>
                  <a:srgbClr val="262626"/>
                </a:solidFill>
                <a:latin typeface="Calibri"/>
              </a:rPr>
              <a:t>Compare documents</a:t>
            </a:r>
          </a:p>
        </p:txBody>
      </p:sp>
      <p:pic>
        <p:nvPicPr>
          <p:cNvPr id="111" name="MdEditNote_b.png" descr="MdEditNot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7560" y="3575304"/>
            <a:ext cx="274320" cy="274320"/>
          </a:xfrm>
          <a:prstGeom prst="rect">
            <a:avLst/>
          </a:prstGeom>
        </p:spPr>
      </p:pic>
      <p:sp>
        <p:nvSpPr>
          <p:cNvPr id="7" name="TextBox 111"/>
          <p:cNvSpPr txBox="1"/>
          <p:nvPr/>
        </p:nvSpPr>
        <p:spPr>
          <a:xfrm>
            <a:off x="3703320" y="3520440"/>
            <a:ext cx="1572768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200" b="1" i="0" dirty="0">
                <a:solidFill>
                  <a:srgbClr val="262626"/>
                </a:solidFill>
                <a:latin typeface="Calibri"/>
              </a:rPr>
              <a:t>Prepare legal communications</a:t>
            </a:r>
          </a:p>
        </p:txBody>
      </p:sp>
      <p:pic>
        <p:nvPicPr>
          <p:cNvPr id="112" name="MdSummarize_b.png" descr="MdSummariz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4142232"/>
            <a:ext cx="274320" cy="274320"/>
          </a:xfrm>
          <a:prstGeom prst="rect">
            <a:avLst/>
          </a:prstGeom>
        </p:spPr>
      </p:pic>
      <p:sp>
        <p:nvSpPr>
          <p:cNvPr id="8" name="TextBox 112"/>
          <p:cNvSpPr txBox="1"/>
          <p:nvPr/>
        </p:nvSpPr>
        <p:spPr>
          <a:xfrm>
            <a:off x="3703320" y="4087368"/>
            <a:ext cx="1572768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200" b="1" i="0" dirty="0">
                <a:solidFill>
                  <a:srgbClr val="262626"/>
                </a:solidFill>
                <a:latin typeface="Calibri"/>
              </a:rPr>
              <a:t>Summarize information</a:t>
            </a:r>
          </a:p>
        </p:txBody>
      </p:sp>
      <p:pic>
        <p:nvPicPr>
          <p:cNvPr id="113" name="MdLightbulbOutline_b.png" descr="MdLightbulbOutline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4709160"/>
            <a:ext cx="274320" cy="274320"/>
          </a:xfrm>
          <a:prstGeom prst="rect">
            <a:avLst/>
          </a:prstGeom>
        </p:spPr>
      </p:pic>
      <p:sp>
        <p:nvSpPr>
          <p:cNvPr id="9" name="TextBox 113"/>
          <p:cNvSpPr txBox="1"/>
          <p:nvPr/>
        </p:nvSpPr>
        <p:spPr>
          <a:xfrm>
            <a:off x="3703320" y="4654296"/>
            <a:ext cx="1572768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200" b="1" i="0" dirty="0">
                <a:solidFill>
                  <a:srgbClr val="262626"/>
                </a:solidFill>
                <a:latin typeface="Calibri"/>
              </a:rPr>
              <a:t>Prepare recommendations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5715000" y="150876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But throughout the day, different questions arise:</a:t>
            </a:r>
          </a:p>
        </p:txBody>
      </p:sp>
      <p:sp>
        <p:nvSpPr>
          <p:cNvPr id="115" name="Rectangle 115"/>
          <p:cNvSpPr/>
          <p:nvPr/>
        </p:nvSpPr>
        <p:spPr>
          <a:xfrm>
            <a:off x="5715000" y="1938528"/>
            <a:ext cx="5669280" cy="585216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16" name="Oval 116"/>
          <p:cNvSpPr/>
          <p:nvPr/>
        </p:nvSpPr>
        <p:spPr>
          <a:xfrm>
            <a:off x="5879592" y="2066544"/>
            <a:ext cx="329184" cy="329184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6400800" y="1938528"/>
            <a:ext cx="4846320" cy="5852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13765"/>
                </a:solidFill>
                <a:latin typeface="Calibri"/>
              </a:rPr>
              <a:t>What is Maria allowed to do?</a:t>
            </a:r>
          </a:p>
        </p:txBody>
      </p:sp>
      <p:sp>
        <p:nvSpPr>
          <p:cNvPr id="118" name="Rectangle 118"/>
          <p:cNvSpPr/>
          <p:nvPr/>
        </p:nvSpPr>
        <p:spPr>
          <a:xfrm>
            <a:off x="5715000" y="2633472"/>
            <a:ext cx="5669280" cy="585216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19" name="Oval 119"/>
          <p:cNvSpPr/>
          <p:nvPr/>
        </p:nvSpPr>
        <p:spPr>
          <a:xfrm>
            <a:off x="5879592" y="2761488"/>
            <a:ext cx="329184" cy="329184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6400800" y="2633472"/>
            <a:ext cx="4846320" cy="5852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13765"/>
                </a:solidFill>
                <a:latin typeface="Calibri"/>
              </a:rPr>
              <a:t>What information is appropriate to use?</a:t>
            </a:r>
          </a:p>
        </p:txBody>
      </p:sp>
      <p:sp>
        <p:nvSpPr>
          <p:cNvPr id="121" name="Rectangle 121"/>
          <p:cNvSpPr/>
          <p:nvPr/>
        </p:nvSpPr>
        <p:spPr>
          <a:xfrm>
            <a:off x="5715000" y="3328416"/>
            <a:ext cx="5669280" cy="585216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2" name="Oval 122"/>
          <p:cNvSpPr/>
          <p:nvPr/>
        </p:nvSpPr>
        <p:spPr>
          <a:xfrm>
            <a:off x="5879592" y="3456432"/>
            <a:ext cx="329184" cy="329184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6400800" y="3328416"/>
            <a:ext cx="4846320" cy="5852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13765"/>
                </a:solidFill>
                <a:latin typeface="Calibri"/>
              </a:rPr>
              <a:t>What protections are required?</a:t>
            </a:r>
          </a:p>
        </p:txBody>
      </p:sp>
      <p:sp>
        <p:nvSpPr>
          <p:cNvPr id="124" name="Rectangle 124"/>
          <p:cNvSpPr/>
          <p:nvPr/>
        </p:nvSpPr>
        <p:spPr>
          <a:xfrm>
            <a:off x="5715000" y="4023360"/>
            <a:ext cx="5669280" cy="585216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5" name="Oval 125"/>
          <p:cNvSpPr/>
          <p:nvPr/>
        </p:nvSpPr>
        <p:spPr>
          <a:xfrm>
            <a:off x="5879592" y="4151376"/>
            <a:ext cx="329184" cy="329184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6400800" y="4023360"/>
            <a:ext cx="4846320" cy="5852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13765"/>
                </a:solidFill>
                <a:latin typeface="Calibri"/>
              </a:rPr>
              <a:t>When must Maria make the decision herself?</a:t>
            </a:r>
          </a:p>
        </p:txBody>
      </p:sp>
      <p:sp>
        <p:nvSpPr>
          <p:cNvPr id="127" name="Rectangle 127"/>
          <p:cNvSpPr/>
          <p:nvPr/>
        </p:nvSpPr>
        <p:spPr>
          <a:xfrm>
            <a:off x="5715000" y="4718304"/>
            <a:ext cx="5669280" cy="585216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8" name="Oval 128"/>
          <p:cNvSpPr/>
          <p:nvPr/>
        </p:nvSpPr>
        <p:spPr>
          <a:xfrm>
            <a:off x="5879592" y="4846320"/>
            <a:ext cx="329184" cy="329184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6400800" y="4718304"/>
            <a:ext cx="4846320" cy="5852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13765"/>
                </a:solidFill>
                <a:latin typeface="Calibri"/>
              </a:rPr>
              <a:t>What can the organization prove afterward?</a:t>
            </a:r>
          </a:p>
        </p:txBody>
      </p:sp>
      <p:sp>
        <p:nvSpPr>
          <p:cNvPr id="130" name="Rectangle 130"/>
          <p:cNvSpPr/>
          <p:nvPr/>
        </p:nvSpPr>
        <p:spPr>
          <a:xfrm>
            <a:off x="1097280" y="5504688"/>
            <a:ext cx="10287000" cy="41148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Calibri"/>
              </a:rPr>
              <a:t>Let's follow Maria through her 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Start Work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12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8:30 AM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Maria begins her day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358444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Login_w.png" descr="MdLog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Maria signs in and begins working on matters assigned to her.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1325880" y="3051048"/>
            <a:ext cx="324612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She needs access to the information required for her role.</a:t>
            </a:r>
          </a:p>
        </p:txBody>
      </p:sp>
      <p:sp>
        <p:nvSpPr>
          <p:cNvPr id="127" name="Rectangle 127"/>
          <p:cNvSpPr/>
          <p:nvPr/>
        </p:nvSpPr>
        <p:spPr>
          <a:xfrm>
            <a:off x="5029200" y="1536192"/>
            <a:ext cx="6355080" cy="104343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8" name="Oval 128"/>
          <p:cNvSpPr/>
          <p:nvPr/>
        </p:nvSpPr>
        <p:spPr>
          <a:xfrm>
            <a:off x="5212080" y="1740916"/>
            <a:ext cx="420624" cy="420624"/>
          </a:xfrm>
          <a:prstGeom prst="ellipse">
            <a:avLst/>
          </a:prstGeom>
          <a:solidFill>
            <a:srgbClr val="F3F4F6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9" name="MdWarningAmber_g.png" descr="MdWarningAmber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1825041"/>
            <a:ext cx="252374" cy="252374"/>
          </a:xfrm>
          <a:prstGeom prst="rect">
            <a:avLst/>
          </a:prstGeom>
        </p:spPr>
      </p:pic>
      <p:sp>
        <p:nvSpPr>
          <p:cNvPr id="4" name="TextBox 129"/>
          <p:cNvSpPr txBox="1"/>
          <p:nvPr/>
        </p:nvSpPr>
        <p:spPr>
          <a:xfrm>
            <a:off x="5760720" y="1731772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595959"/>
                </a:solidFill>
                <a:latin typeface="Calibri"/>
              </a:rPr>
              <a:t>What could go wrong?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5760720" y="1987804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Someone could use AI without being properly identified or could gain access to information outside their responsibilities.</a:t>
            </a:r>
          </a:p>
        </p:txBody>
      </p:sp>
      <p:sp>
        <p:nvSpPr>
          <p:cNvPr id="131" name="Rectangle 131"/>
          <p:cNvSpPr/>
          <p:nvPr/>
        </p:nvSpPr>
        <p:spPr>
          <a:xfrm>
            <a:off x="5029200" y="2707640"/>
            <a:ext cx="6355080" cy="124155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2" name="Oval 132"/>
          <p:cNvSpPr/>
          <p:nvPr/>
        </p:nvSpPr>
        <p:spPr>
          <a:xfrm>
            <a:off x="5212080" y="2912364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3" name="MdPolicy_w.png" descr="MdPolic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2996489"/>
            <a:ext cx="252374" cy="252374"/>
          </a:xfrm>
          <a:prstGeom prst="rect">
            <a:avLst/>
          </a:prstGeom>
        </p:spPr>
      </p:pic>
      <p:sp>
        <p:nvSpPr>
          <p:cNvPr id="5" name="TextBox 133"/>
          <p:cNvSpPr txBox="1"/>
          <p:nvPr/>
        </p:nvSpPr>
        <p:spPr>
          <a:xfrm>
            <a:off x="5760720" y="2903220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5760720" y="3159252"/>
            <a:ext cx="5440680" cy="649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Only an appropriately identified and authorized worker should be able to use the organization's AI capability and business information.</a:t>
            </a:r>
          </a:p>
        </p:txBody>
      </p:sp>
      <p:sp>
        <p:nvSpPr>
          <p:cNvPr id="135" name="Rectangle 135"/>
          <p:cNvSpPr/>
          <p:nvPr/>
        </p:nvSpPr>
        <p:spPr>
          <a:xfrm>
            <a:off x="5029200" y="4077208"/>
            <a:ext cx="6355080" cy="1043432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6" name="Oval 136"/>
          <p:cNvSpPr/>
          <p:nvPr/>
        </p:nvSpPr>
        <p:spPr>
          <a:xfrm>
            <a:off x="5212080" y="428193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7" name="MdCheckCircle_b.png" descr="MdCheckCircl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5" y="4366057"/>
            <a:ext cx="252374" cy="252374"/>
          </a:xfrm>
          <a:prstGeom prst="rect">
            <a:avLst/>
          </a:prstGeom>
        </p:spPr>
      </p:pic>
      <p:sp>
        <p:nvSpPr>
          <p:cNvPr id="6" name="TextBox 137"/>
          <p:cNvSpPr txBox="1"/>
          <p:nvPr/>
        </p:nvSpPr>
        <p:spPr>
          <a:xfrm>
            <a:off x="5760720" y="4272788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5760720" y="4528820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She signs in and gets access to the work she is permitted to perform.</a:t>
            </a:r>
          </a:p>
        </p:txBody>
      </p:sp>
      <p:sp>
        <p:nvSpPr>
          <p:cNvPr id="139" name="Rectangle 139"/>
          <p:cNvSpPr/>
          <p:nvPr/>
        </p:nvSpPr>
        <p:spPr>
          <a:xfrm>
            <a:off x="1097280" y="5303520"/>
            <a:ext cx="10287000" cy="64008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0" name="TextBox 140"/>
          <p:cNvSpPr txBox="1"/>
          <p:nvPr/>
        </p:nvSpPr>
        <p:spPr>
          <a:xfrm>
            <a:off x="1371600" y="530352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Governance behind the scene</a:t>
            </a:r>
          </a:p>
        </p:txBody>
      </p:sp>
      <p:sp>
        <p:nvSpPr>
          <p:cNvPr id="141" name="Rounded Rectangle 141"/>
          <p:cNvSpPr/>
          <p:nvPr/>
        </p:nvSpPr>
        <p:spPr>
          <a:xfrm>
            <a:off x="3840480" y="5440680"/>
            <a:ext cx="957072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013765"/>
                </a:solidFill>
                <a:latin typeface="Calibri"/>
              </a:rPr>
              <a:t>Identity</a:t>
            </a:r>
          </a:p>
        </p:txBody>
      </p:sp>
      <p:cxnSp>
        <p:nvCxnSpPr>
          <p:cNvPr id="142" name="Connector 142"/>
          <p:cNvCxnSpPr/>
          <p:nvPr/>
        </p:nvCxnSpPr>
        <p:spPr>
          <a:xfrm>
            <a:off x="4843272" y="5623560"/>
            <a:ext cx="27432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</p:spPr>
      </p:cxnSp>
      <p:sp>
        <p:nvSpPr>
          <p:cNvPr id="143" name="Rounded Rectangle 143"/>
          <p:cNvSpPr/>
          <p:nvPr/>
        </p:nvSpPr>
        <p:spPr>
          <a:xfrm>
            <a:off x="5163312" y="5440680"/>
            <a:ext cx="1810512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013765"/>
                </a:solidFill>
                <a:latin typeface="Calibri"/>
              </a:rPr>
              <a:t>Appropriate Access</a:t>
            </a:r>
          </a:p>
        </p:txBody>
      </p:sp>
      <p:cxnSp>
        <p:nvCxnSpPr>
          <p:cNvPr id="144" name="Connector 144"/>
          <p:cNvCxnSpPr/>
          <p:nvPr/>
        </p:nvCxnSpPr>
        <p:spPr>
          <a:xfrm>
            <a:off x="7019544" y="5623560"/>
            <a:ext cx="27432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</p:spPr>
      </p:cxnSp>
      <p:sp>
        <p:nvSpPr>
          <p:cNvPr id="145" name="Rounded Rectangle 145"/>
          <p:cNvSpPr/>
          <p:nvPr/>
        </p:nvSpPr>
        <p:spPr>
          <a:xfrm>
            <a:off x="7339584" y="5440680"/>
            <a:ext cx="1810512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013765"/>
                </a:solidFill>
                <a:latin typeface="Calibri"/>
              </a:rPr>
              <a:t>Policy Enforcement</a:t>
            </a:r>
          </a:p>
        </p:txBody>
      </p:sp>
      <p:cxnSp>
        <p:nvCxnSpPr>
          <p:cNvPr id="146" name="Connector 146"/>
          <p:cNvCxnSpPr/>
          <p:nvPr/>
        </p:nvCxnSpPr>
        <p:spPr>
          <a:xfrm>
            <a:off x="9195816" y="5623560"/>
            <a:ext cx="27432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</p:spPr>
      </p:cxnSp>
      <p:sp>
        <p:nvSpPr>
          <p:cNvPr id="147" name="Rounded Rectangle 147"/>
          <p:cNvSpPr/>
          <p:nvPr/>
        </p:nvSpPr>
        <p:spPr>
          <a:xfrm>
            <a:off x="9515856" y="5440680"/>
            <a:ext cx="957072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013765"/>
                </a:solidFill>
                <a:latin typeface="Calibri"/>
              </a:rPr>
              <a:t>Evidence</a:t>
            </a:r>
          </a:p>
        </p:txBody>
      </p:sp>
      <p:sp>
        <p:nvSpPr>
          <p:cNvPr id="11" name="Shape 19">
            <a:extLst>
              <a:ext uri="{FF2B5EF4-FFF2-40B4-BE49-F238E27FC236}">
                <a16:creationId xmlns:a16="http://schemas.microsoft.com/office/drawing/2014/main" id="{30F5410E-87B1-20E9-D78A-E6251CAA0D5A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solidFill>
            <a:srgbClr val="0B1C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8C0A9BAD-3BDC-A08C-9798-D1A571F36EC4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1/1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Review an Assigned Contract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13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9:00 AM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Maria asks Copilot to help review a contract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376732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Description_w.png" descr="MdDescriptio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Maria is assigned a supplier agreement.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1325880" y="3051048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She asks Copilot to help identify </a:t>
            </a:r>
            <a:r>
              <a:rPr lang="en-US" sz="1400" dirty="0">
                <a:solidFill>
                  <a:srgbClr val="262626"/>
                </a:solidFill>
                <a:latin typeface="Calibri"/>
              </a:rPr>
              <a:t>termination </a:t>
            </a:r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obligations :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1325880" y="3709237"/>
            <a:ext cx="3246120" cy="12100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Should the asset be Returned or Deleted?</a:t>
            </a:r>
          </a:p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Termination provisions</a:t>
            </a:r>
          </a:p>
          <a:p>
            <a:pPr marL="228600" indent="-228600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dirty="0">
                <a:solidFill>
                  <a:srgbClr val="262626"/>
                </a:solidFill>
                <a:latin typeface="Calibri"/>
              </a:rPr>
              <a:t>Within how Many days ?</a:t>
            </a:r>
          </a:p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Supplier obligations</a:t>
            </a:r>
          </a:p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Key changes from the previous version</a:t>
            </a:r>
          </a:p>
        </p:txBody>
      </p:sp>
      <p:sp>
        <p:nvSpPr>
          <p:cNvPr id="128" name="Rectangle 128"/>
          <p:cNvSpPr/>
          <p:nvPr/>
        </p:nvSpPr>
        <p:spPr>
          <a:xfrm>
            <a:off x="5029200" y="1536192"/>
            <a:ext cx="63550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9" name="Oval 129"/>
          <p:cNvSpPr/>
          <p:nvPr/>
        </p:nvSpPr>
        <p:spPr>
          <a:xfrm>
            <a:off x="5212080" y="1804416"/>
            <a:ext cx="420624" cy="420624"/>
          </a:xfrm>
          <a:prstGeom prst="ellipse">
            <a:avLst/>
          </a:prstGeom>
          <a:solidFill>
            <a:srgbClr val="F3F4F6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0" name="MdWarningAmber_g.png" descr="MdWarningAmber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1888541"/>
            <a:ext cx="252374" cy="252374"/>
          </a:xfrm>
          <a:prstGeom prst="rect">
            <a:avLst/>
          </a:prstGeom>
        </p:spPr>
      </p:pic>
      <p:sp>
        <p:nvSpPr>
          <p:cNvPr id="4" name="TextBox 130"/>
          <p:cNvSpPr txBox="1"/>
          <p:nvPr/>
        </p:nvSpPr>
        <p:spPr>
          <a:xfrm>
            <a:off x="5760720" y="1795272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595959"/>
                </a:solidFill>
                <a:latin typeface="Calibri"/>
              </a:rPr>
              <a:t>What could go wrong?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5760720" y="2051304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AI could expose information from matters Maria is not authorized to access or combine information from unrelated work.</a:t>
            </a:r>
          </a:p>
        </p:txBody>
      </p:sp>
      <p:sp>
        <p:nvSpPr>
          <p:cNvPr id="132" name="Rectangle 132"/>
          <p:cNvSpPr/>
          <p:nvPr/>
        </p:nvSpPr>
        <p:spPr>
          <a:xfrm>
            <a:off x="5029200" y="2834640"/>
            <a:ext cx="63550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3" name="Oval 133"/>
          <p:cNvSpPr/>
          <p:nvPr/>
        </p:nvSpPr>
        <p:spPr>
          <a:xfrm>
            <a:off x="5212080" y="3102864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4" name="MdPolicy_w.png" descr="MdPolic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3186989"/>
            <a:ext cx="252374" cy="252374"/>
          </a:xfrm>
          <a:prstGeom prst="rect">
            <a:avLst/>
          </a:prstGeom>
        </p:spPr>
      </p:pic>
      <p:sp>
        <p:nvSpPr>
          <p:cNvPr id="5" name="TextBox 134"/>
          <p:cNvSpPr txBox="1"/>
          <p:nvPr/>
        </p:nvSpPr>
        <p:spPr>
          <a:xfrm>
            <a:off x="5760720" y="3093720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5760720" y="3349752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AI-assisted work must remain within the information and business activities Maria is authorized to perform.</a:t>
            </a:r>
          </a:p>
        </p:txBody>
      </p:sp>
      <p:sp>
        <p:nvSpPr>
          <p:cNvPr id="136" name="Rectangle 136"/>
          <p:cNvSpPr/>
          <p:nvPr/>
        </p:nvSpPr>
        <p:spPr>
          <a:xfrm>
            <a:off x="5029200" y="4133088"/>
            <a:ext cx="6355080" cy="1170432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7" name="Oval 137"/>
          <p:cNvSpPr/>
          <p:nvPr/>
        </p:nvSpPr>
        <p:spPr>
          <a:xfrm>
            <a:off x="5212080" y="440131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8" name="MdCheckCircle_b.png" descr="MdCheckCircl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5" y="4485437"/>
            <a:ext cx="252374" cy="252374"/>
          </a:xfrm>
          <a:prstGeom prst="rect">
            <a:avLst/>
          </a:prstGeom>
        </p:spPr>
      </p:pic>
      <p:sp>
        <p:nvSpPr>
          <p:cNvPr id="6" name="TextBox 138"/>
          <p:cNvSpPr txBox="1"/>
          <p:nvPr/>
        </p:nvSpPr>
        <p:spPr>
          <a:xfrm>
            <a:off x="5760720" y="4392168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5760720" y="4648200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Copilot helps with the contract Maria is working on - without opening the door to unrelated matters.</a:t>
            </a:r>
          </a:p>
        </p:txBody>
      </p:sp>
      <p:sp>
        <p:nvSpPr>
          <p:cNvPr id="140" name="Rectangle 140"/>
          <p:cNvSpPr/>
          <p:nvPr/>
        </p:nvSpPr>
        <p:spPr>
          <a:xfrm>
            <a:off x="1097280" y="5486400"/>
            <a:ext cx="10287000" cy="4572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Business outcome   </a:t>
            </a:r>
            <a:r>
              <a:rPr lang="en-US" sz="1300" b="0" i="1" dirty="0">
                <a:solidFill>
                  <a:srgbClr val="FFFFFF"/>
                </a:solidFill>
                <a:latin typeface="Calibri"/>
              </a:rPr>
              <a:t>Maria gets assistance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within the boundaries of her work.</a:t>
            </a:r>
          </a:p>
        </p:txBody>
      </p:sp>
      <p:sp>
        <p:nvSpPr>
          <p:cNvPr id="10" name="Shape 19">
            <a:extLst>
              <a:ext uri="{FF2B5EF4-FFF2-40B4-BE49-F238E27FC236}">
                <a16:creationId xmlns:a16="http://schemas.microsoft.com/office/drawing/2014/main" id="{A11D713E-209F-E848-B8E3-39F48A17BFFB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solidFill>
            <a:srgbClr val="0B1C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99D3C010-2F24-6DC3-AD87-1807D6888717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2/1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Find Information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14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10:00 AM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Maria needs information to answer a legal question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376732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Search_w.png" descr="MdSearch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Maria asks:</a:t>
            </a:r>
          </a:p>
        </p:txBody>
      </p:sp>
      <p:sp>
        <p:nvSpPr>
          <p:cNvPr id="126" name="Rectangle 126"/>
          <p:cNvSpPr/>
          <p:nvPr/>
        </p:nvSpPr>
        <p:spPr>
          <a:xfrm>
            <a:off x="1325880" y="2874264"/>
            <a:ext cx="3246120" cy="646176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7" name="TextBox 127"/>
          <p:cNvSpPr txBox="1"/>
          <p:nvPr/>
        </p:nvSpPr>
        <p:spPr>
          <a:xfrm>
            <a:off x="1508760" y="2874264"/>
            <a:ext cx="2880360" cy="64617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400" b="1" i="1" dirty="0">
                <a:solidFill>
                  <a:srgbClr val="013765"/>
                </a:solidFill>
                <a:latin typeface="Calibri"/>
              </a:rPr>
              <a:t>“How long do we keep files for a broker agreement after the agreement ends?"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1325880" y="3630168"/>
            <a:ext cx="324612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Copilot helps Maria locate relevant information.</a:t>
            </a:r>
          </a:p>
        </p:txBody>
      </p:sp>
      <p:sp>
        <p:nvSpPr>
          <p:cNvPr id="129" name="Rectangle 129"/>
          <p:cNvSpPr/>
          <p:nvPr/>
        </p:nvSpPr>
        <p:spPr>
          <a:xfrm>
            <a:off x="5029200" y="1536192"/>
            <a:ext cx="2948940" cy="115011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0" name="TextBox 130"/>
          <p:cNvSpPr txBox="1"/>
          <p:nvPr/>
        </p:nvSpPr>
        <p:spPr>
          <a:xfrm>
            <a:off x="5212080" y="1664208"/>
            <a:ext cx="25831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595959"/>
                </a:solidFill>
                <a:latin typeface="Calibri"/>
              </a:rPr>
              <a:t>The question is not: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5212080" y="1901952"/>
            <a:ext cx="2583180" cy="69291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1" dirty="0">
                <a:solidFill>
                  <a:srgbClr val="595959"/>
                </a:solidFill>
                <a:latin typeface="Calibri"/>
              </a:rPr>
              <a:t>"Can Copilot find information?"</a:t>
            </a:r>
          </a:p>
        </p:txBody>
      </p:sp>
      <p:cxnSp>
        <p:nvCxnSpPr>
          <p:cNvPr id="132" name="Connector 132"/>
          <p:cNvCxnSpPr/>
          <p:nvPr/>
        </p:nvCxnSpPr>
        <p:spPr>
          <a:xfrm>
            <a:off x="8051292" y="2111248"/>
            <a:ext cx="310896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33" name="Rectangle 133"/>
          <p:cNvSpPr/>
          <p:nvPr/>
        </p:nvSpPr>
        <p:spPr>
          <a:xfrm>
            <a:off x="8435340" y="1536192"/>
            <a:ext cx="2948940" cy="1150112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4" name="TextBox 134"/>
          <p:cNvSpPr txBox="1"/>
          <p:nvPr/>
        </p:nvSpPr>
        <p:spPr>
          <a:xfrm>
            <a:off x="8618220" y="1664208"/>
            <a:ext cx="25831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The question is: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8618220" y="1901952"/>
            <a:ext cx="2583180" cy="69291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"Which information should Maria be able to find?"</a:t>
            </a:r>
          </a:p>
        </p:txBody>
      </p:sp>
      <p:sp>
        <p:nvSpPr>
          <p:cNvPr id="136" name="Rectangle 136"/>
          <p:cNvSpPr/>
          <p:nvPr/>
        </p:nvSpPr>
        <p:spPr>
          <a:xfrm>
            <a:off x="5029200" y="2814320"/>
            <a:ext cx="6355080" cy="118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7" name="Oval 137"/>
          <p:cNvSpPr/>
          <p:nvPr/>
        </p:nvSpPr>
        <p:spPr>
          <a:xfrm>
            <a:off x="5212080" y="3087624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8" name="MdPolicy_w.png" descr="MdPolic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3171749"/>
            <a:ext cx="252374" cy="252374"/>
          </a:xfrm>
          <a:prstGeom prst="rect">
            <a:avLst/>
          </a:prstGeom>
        </p:spPr>
      </p:pic>
      <p:sp>
        <p:nvSpPr>
          <p:cNvPr id="4" name="TextBox 138"/>
          <p:cNvSpPr txBox="1"/>
          <p:nvPr/>
        </p:nvSpPr>
        <p:spPr>
          <a:xfrm>
            <a:off x="5760720" y="3078480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5760720" y="3334512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Information should be available according to the worker's role, business need and authorization.</a:t>
            </a:r>
          </a:p>
        </p:txBody>
      </p:sp>
      <p:sp>
        <p:nvSpPr>
          <p:cNvPr id="140" name="Rectangle 140"/>
          <p:cNvSpPr/>
          <p:nvPr/>
        </p:nvSpPr>
        <p:spPr>
          <a:xfrm>
            <a:off x="5029200" y="4122928"/>
            <a:ext cx="6355080" cy="1180592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1" name="Oval 141"/>
          <p:cNvSpPr/>
          <p:nvPr/>
        </p:nvSpPr>
        <p:spPr>
          <a:xfrm>
            <a:off x="5212080" y="439623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2" name="MdCheckCircle_b.png" descr="MdCheckCircle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4480357"/>
            <a:ext cx="252374" cy="252374"/>
          </a:xfrm>
          <a:prstGeom prst="rect">
            <a:avLst/>
          </a:prstGeom>
        </p:spPr>
      </p:pic>
      <p:sp>
        <p:nvSpPr>
          <p:cNvPr id="5" name="TextBox 142"/>
          <p:cNvSpPr txBox="1"/>
          <p:nvPr/>
        </p:nvSpPr>
        <p:spPr>
          <a:xfrm>
            <a:off x="5760720" y="4387088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5760720" y="4643120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Relevant information is available. Information outside her authorized work remains outside the conversation.</a:t>
            </a:r>
          </a:p>
        </p:txBody>
      </p:sp>
      <p:sp>
        <p:nvSpPr>
          <p:cNvPr id="144" name="Rectangle 144"/>
          <p:cNvSpPr/>
          <p:nvPr/>
        </p:nvSpPr>
        <p:spPr>
          <a:xfrm>
            <a:off x="1097280" y="5486400"/>
            <a:ext cx="10287000" cy="4572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Governance principle  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Access should follow business responsibility - not simply information availability.</a:t>
            </a:r>
          </a:p>
        </p:txBody>
      </p:sp>
      <p:sp>
        <p:nvSpPr>
          <p:cNvPr id="7" name="Shape 19">
            <a:extLst>
              <a:ext uri="{FF2B5EF4-FFF2-40B4-BE49-F238E27FC236}">
                <a16:creationId xmlns:a16="http://schemas.microsoft.com/office/drawing/2014/main" id="{8636A118-68F0-2281-C07A-A79B0B58838F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solidFill>
            <a:srgbClr val="0B1C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20">
            <a:extLst>
              <a:ext uri="{FF2B5EF4-FFF2-40B4-BE49-F238E27FC236}">
                <a16:creationId xmlns:a16="http://schemas.microsoft.com/office/drawing/2014/main" id="{9A6260EF-8DBE-8B2A-0503-889038257966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DEMO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Work With Sensitive Information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15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10:30 AM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Maria encounters sensitive information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417880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LockOutline_w.png" descr="MdLockOutlin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The contract and related documents may contain information that requires additional protection.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1325880" y="3264408"/>
            <a:ext cx="324612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Depending on the matter, information may involve: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1325880" y="3800856"/>
            <a:ext cx="3246120" cy="12100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Confidential legal information</a:t>
            </a:r>
          </a:p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Personal information</a:t>
            </a:r>
          </a:p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Business-sensitive information</a:t>
            </a:r>
          </a:p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Regulated information, where applicable</a:t>
            </a:r>
          </a:p>
        </p:txBody>
      </p:sp>
      <p:sp>
        <p:nvSpPr>
          <p:cNvPr id="128" name="Rectangle 128"/>
          <p:cNvSpPr/>
          <p:nvPr/>
        </p:nvSpPr>
        <p:spPr>
          <a:xfrm>
            <a:off x="5029200" y="1536192"/>
            <a:ext cx="6355080" cy="1286256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9" name="Oval 129"/>
          <p:cNvSpPr/>
          <p:nvPr/>
        </p:nvSpPr>
        <p:spPr>
          <a:xfrm>
            <a:off x="5212080" y="1763268"/>
            <a:ext cx="420624" cy="420624"/>
          </a:xfrm>
          <a:prstGeom prst="ellipse">
            <a:avLst/>
          </a:prstGeom>
          <a:solidFill>
            <a:srgbClr val="F3F4F6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0" name="MdWarningAmber_g.png" descr="MdWarningAmber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1847393"/>
            <a:ext cx="252374" cy="252374"/>
          </a:xfrm>
          <a:prstGeom prst="rect">
            <a:avLst/>
          </a:prstGeom>
        </p:spPr>
      </p:pic>
      <p:sp>
        <p:nvSpPr>
          <p:cNvPr id="4" name="TextBox 130"/>
          <p:cNvSpPr txBox="1"/>
          <p:nvPr/>
        </p:nvSpPr>
        <p:spPr>
          <a:xfrm>
            <a:off x="5760720" y="1754124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595959"/>
                </a:solidFill>
                <a:latin typeface="Calibri"/>
              </a:rPr>
              <a:t>What could go wrong?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5760720" y="2010156"/>
            <a:ext cx="5440680" cy="649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Information could be exposed, combined, retained or shared in ways that are inconsistent with its sensitivity or applicable obligations.</a:t>
            </a:r>
          </a:p>
        </p:txBody>
      </p:sp>
      <p:sp>
        <p:nvSpPr>
          <p:cNvPr id="132" name="Rectangle 132"/>
          <p:cNvSpPr/>
          <p:nvPr/>
        </p:nvSpPr>
        <p:spPr>
          <a:xfrm>
            <a:off x="5029200" y="2950464"/>
            <a:ext cx="6355080" cy="1548384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3" name="Oval 133"/>
          <p:cNvSpPr/>
          <p:nvPr/>
        </p:nvSpPr>
        <p:spPr>
          <a:xfrm>
            <a:off x="5212080" y="3177540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4" name="MdPolicy_w.png" descr="MdPolic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3261665"/>
            <a:ext cx="252374" cy="252374"/>
          </a:xfrm>
          <a:prstGeom prst="rect">
            <a:avLst/>
          </a:prstGeom>
        </p:spPr>
      </p:pic>
      <p:sp>
        <p:nvSpPr>
          <p:cNvPr id="5" name="TextBox 134"/>
          <p:cNvSpPr txBox="1"/>
          <p:nvPr/>
        </p:nvSpPr>
        <p:spPr>
          <a:xfrm>
            <a:off x="5760720" y="3168396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5760720" y="3424428"/>
            <a:ext cx="5440680" cy="2529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The way information is handled must reflect:</a:t>
            </a:r>
          </a:p>
        </p:txBody>
      </p:sp>
      <p:sp>
        <p:nvSpPr>
          <p:cNvPr id="136" name="Rounded Rectangle 136"/>
          <p:cNvSpPr/>
          <p:nvPr/>
        </p:nvSpPr>
        <p:spPr>
          <a:xfrm>
            <a:off x="5760720" y="3695700"/>
            <a:ext cx="945236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Sensitivity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6705956" y="3695700"/>
            <a:ext cx="292608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i="0" dirty="0">
                <a:solidFill>
                  <a:srgbClr val="0079CF"/>
                </a:solidFill>
                <a:latin typeface="Calibri"/>
              </a:rPr>
              <a:t>+</a:t>
            </a:r>
          </a:p>
        </p:txBody>
      </p:sp>
      <p:sp>
        <p:nvSpPr>
          <p:cNvPr id="138" name="Rounded Rectangle 138"/>
          <p:cNvSpPr/>
          <p:nvPr/>
        </p:nvSpPr>
        <p:spPr>
          <a:xfrm>
            <a:off x="6998564" y="3695700"/>
            <a:ext cx="684598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Purpose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7683161" y="3695700"/>
            <a:ext cx="292608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i="0" dirty="0">
                <a:solidFill>
                  <a:srgbClr val="0079CF"/>
                </a:solidFill>
                <a:latin typeface="Calibri"/>
              </a:rPr>
              <a:t>+</a:t>
            </a:r>
          </a:p>
        </p:txBody>
      </p:sp>
      <p:sp>
        <p:nvSpPr>
          <p:cNvPr id="140" name="Rounded Rectangle 140"/>
          <p:cNvSpPr/>
          <p:nvPr/>
        </p:nvSpPr>
        <p:spPr>
          <a:xfrm>
            <a:off x="7975769" y="3695700"/>
            <a:ext cx="1336192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Applicable Policy</a:t>
            </a:r>
          </a:p>
        </p:txBody>
      </p:sp>
      <p:sp>
        <p:nvSpPr>
          <p:cNvPr id="141" name="TextBox 141"/>
          <p:cNvSpPr txBox="1"/>
          <p:nvPr/>
        </p:nvSpPr>
        <p:spPr>
          <a:xfrm>
            <a:off x="9311962" y="3695700"/>
            <a:ext cx="292608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i="0" dirty="0">
                <a:solidFill>
                  <a:srgbClr val="0079CF"/>
                </a:solidFill>
                <a:latin typeface="Calibri"/>
              </a:rPr>
              <a:t>+</a:t>
            </a:r>
          </a:p>
        </p:txBody>
      </p:sp>
      <p:sp>
        <p:nvSpPr>
          <p:cNvPr id="142" name="Rounded Rectangle 142"/>
          <p:cNvSpPr/>
          <p:nvPr/>
        </p:nvSpPr>
        <p:spPr>
          <a:xfrm>
            <a:off x="9604570" y="3695700"/>
            <a:ext cx="1596830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Regulatory Obligation</a:t>
            </a:r>
          </a:p>
        </p:txBody>
      </p:sp>
      <p:sp>
        <p:nvSpPr>
          <p:cNvPr id="143" name="Rectangle 143"/>
          <p:cNvSpPr/>
          <p:nvPr/>
        </p:nvSpPr>
        <p:spPr>
          <a:xfrm>
            <a:off x="5029200" y="4626864"/>
            <a:ext cx="6355080" cy="1088136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4" name="Oval 144"/>
          <p:cNvSpPr/>
          <p:nvPr/>
        </p:nvSpPr>
        <p:spPr>
          <a:xfrm>
            <a:off x="5212080" y="485394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5" name="MdShield_b.png" descr="MdShield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5" y="4938065"/>
            <a:ext cx="252374" cy="252374"/>
          </a:xfrm>
          <a:prstGeom prst="rect">
            <a:avLst/>
          </a:prstGeom>
        </p:spPr>
      </p:pic>
      <p:sp>
        <p:nvSpPr>
          <p:cNvPr id="6" name="TextBox 145"/>
          <p:cNvSpPr txBox="1"/>
          <p:nvPr/>
        </p:nvSpPr>
        <p:spPr>
          <a:xfrm>
            <a:off x="5760720" y="4844796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46" name="TextBox 146"/>
          <p:cNvSpPr txBox="1"/>
          <p:nvPr/>
        </p:nvSpPr>
        <p:spPr>
          <a:xfrm>
            <a:off x="5760720" y="5100828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The information receives the level of protection required for the work she is performing.</a:t>
            </a:r>
          </a:p>
        </p:txBody>
      </p:sp>
      <p:sp>
        <p:nvSpPr>
          <p:cNvPr id="8" name="Shape 19">
            <a:extLst>
              <a:ext uri="{FF2B5EF4-FFF2-40B4-BE49-F238E27FC236}">
                <a16:creationId xmlns:a16="http://schemas.microsoft.com/office/drawing/2014/main" id="{DF513277-1FEE-BD4C-F476-B72E472A1A29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solidFill>
            <a:srgbClr val="0B1C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20">
            <a:extLst>
              <a:ext uri="{FF2B5EF4-FFF2-40B4-BE49-F238E27FC236}">
                <a16:creationId xmlns:a16="http://schemas.microsoft.com/office/drawing/2014/main" id="{8FCFA530-57B6-2D00-BC9E-8A8FA7FF621A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2/2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Use Only What Is Needed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16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11:00 AM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Maria needs an answer - not every piece of information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376732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FilterAlt_w.png" descr="MdFilterAl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Maria needs to understand: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1325880" y="2837688"/>
            <a:ext cx="3246120" cy="7680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Renewal date</a:t>
            </a:r>
          </a:p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Termination notice period</a:t>
            </a:r>
          </a:p>
          <a:p>
            <a:pPr marL="228600" indent="-228600" algn="l">
              <a:spcAft>
                <a:spcPts val="300"/>
              </a:spcAft>
              <a:buClr>
                <a:srgbClr val="0079CF"/>
              </a:buClr>
              <a:buFont typeface="Arial"/>
              <a:buChar char="•"/>
            </a:pP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Supplier obligations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1325880" y="3660648"/>
            <a:ext cx="324612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013765"/>
                </a:solidFill>
                <a:latin typeface="Calibri"/>
              </a:rPr>
              <a:t>But does she need the supplier's entire legal history?</a:t>
            </a:r>
          </a:p>
        </p:txBody>
      </p:sp>
      <p:sp>
        <p:nvSpPr>
          <p:cNvPr id="128" name="Rectangle 128"/>
          <p:cNvSpPr/>
          <p:nvPr/>
        </p:nvSpPr>
        <p:spPr>
          <a:xfrm>
            <a:off x="5029200" y="1536192"/>
            <a:ext cx="6355080" cy="1106424"/>
          </a:xfrm>
          <a:prstGeom prst="rect">
            <a:avLst/>
          </a:prstGeom>
          <a:solidFill>
            <a:srgbClr val="E8F2FB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9" name="Oval 129"/>
          <p:cNvSpPr/>
          <p:nvPr/>
        </p:nvSpPr>
        <p:spPr>
          <a:xfrm>
            <a:off x="5212080" y="1757172"/>
            <a:ext cx="420624" cy="420624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0" name="MdHelpOutline_w.png" descr="MdHelpOu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1841297"/>
            <a:ext cx="252374" cy="252374"/>
          </a:xfrm>
          <a:prstGeom prst="rect">
            <a:avLst/>
          </a:prstGeom>
        </p:spPr>
      </p:pic>
      <p:sp>
        <p:nvSpPr>
          <p:cNvPr id="4" name="TextBox 130"/>
          <p:cNvSpPr txBox="1"/>
          <p:nvPr/>
        </p:nvSpPr>
        <p:spPr>
          <a:xfrm>
            <a:off x="5760720" y="1748028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The question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5760720" y="2004060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013765"/>
                </a:solidFill>
                <a:latin typeface="Calibri"/>
              </a:rPr>
              <a:t>"Does the AI need all of this information to perform this task?"</a:t>
            </a:r>
          </a:p>
        </p:txBody>
      </p:sp>
      <p:sp>
        <p:nvSpPr>
          <p:cNvPr id="132" name="Rectangle 132"/>
          <p:cNvSpPr/>
          <p:nvPr/>
        </p:nvSpPr>
        <p:spPr>
          <a:xfrm>
            <a:off x="5029200" y="2770632"/>
            <a:ext cx="6355080" cy="1328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3" name="Oval 133"/>
          <p:cNvSpPr/>
          <p:nvPr/>
        </p:nvSpPr>
        <p:spPr>
          <a:xfrm>
            <a:off x="5212080" y="2991612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4" name="MdPolicy_w.png" descr="MdPolic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3075737"/>
            <a:ext cx="252374" cy="252374"/>
          </a:xfrm>
          <a:prstGeom prst="rect">
            <a:avLst/>
          </a:prstGeom>
        </p:spPr>
      </p:pic>
      <p:sp>
        <p:nvSpPr>
          <p:cNvPr id="5" name="TextBox 134"/>
          <p:cNvSpPr txBox="1"/>
          <p:nvPr/>
        </p:nvSpPr>
        <p:spPr>
          <a:xfrm>
            <a:off x="5760720" y="2982468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5760720" y="3238500"/>
            <a:ext cx="5440680" cy="2529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Use information appropriate to the business purpose.</a:t>
            </a:r>
          </a:p>
        </p:txBody>
      </p:sp>
      <p:sp>
        <p:nvSpPr>
          <p:cNvPr id="136" name="TextBox 136"/>
          <p:cNvSpPr txBox="1"/>
          <p:nvPr/>
        </p:nvSpPr>
        <p:spPr>
          <a:xfrm>
            <a:off x="5760720" y="3491484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Avoid unnecessary exposure of information simply because it is available.</a:t>
            </a:r>
          </a:p>
        </p:txBody>
      </p:sp>
      <p:sp>
        <p:nvSpPr>
          <p:cNvPr id="137" name="Rectangle 137"/>
          <p:cNvSpPr/>
          <p:nvPr/>
        </p:nvSpPr>
        <p:spPr>
          <a:xfrm>
            <a:off x="5029200" y="4227576"/>
            <a:ext cx="6355080" cy="1075944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8" name="Oval 138"/>
          <p:cNvSpPr/>
          <p:nvPr/>
        </p:nvSpPr>
        <p:spPr>
          <a:xfrm>
            <a:off x="5212080" y="444855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9" name="MdCheckCircle_b.png" descr="MdCheckCircl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5" y="4532681"/>
            <a:ext cx="252374" cy="252374"/>
          </a:xfrm>
          <a:prstGeom prst="rect">
            <a:avLst/>
          </a:prstGeom>
        </p:spPr>
      </p:pic>
      <p:sp>
        <p:nvSpPr>
          <p:cNvPr id="6" name="TextBox 139"/>
          <p:cNvSpPr txBox="1"/>
          <p:nvPr/>
        </p:nvSpPr>
        <p:spPr>
          <a:xfrm>
            <a:off x="5760720" y="4439412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40" name="TextBox 140"/>
          <p:cNvSpPr txBox="1"/>
          <p:nvPr/>
        </p:nvSpPr>
        <p:spPr>
          <a:xfrm>
            <a:off x="5760720" y="4695444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She can accomplish the task without unnecessarily expanding the information involved.</a:t>
            </a:r>
          </a:p>
        </p:txBody>
      </p:sp>
      <p:sp>
        <p:nvSpPr>
          <p:cNvPr id="141" name="Rectangle 141"/>
          <p:cNvSpPr/>
          <p:nvPr/>
        </p:nvSpPr>
        <p:spPr>
          <a:xfrm>
            <a:off x="1097280" y="5486400"/>
            <a:ext cx="10287000" cy="4572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Business principle  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Use what is needed for the work - not everything that happens to be available.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Prepare a Legal Response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17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12:00 PM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Copilot helps Maria prepare a response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376732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EditNote_w.png" descr="MdEditNot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Maria asks Copilot to draft a response based on the contract and relevant information.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1325880" y="3264408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Copilot produces a draft.</a:t>
            </a:r>
          </a:p>
        </p:txBody>
      </p:sp>
      <p:sp>
        <p:nvSpPr>
          <p:cNvPr id="127" name="Rectangle 127"/>
          <p:cNvSpPr/>
          <p:nvPr/>
        </p:nvSpPr>
        <p:spPr>
          <a:xfrm>
            <a:off x="5029200" y="1536192"/>
            <a:ext cx="6355080" cy="158699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8" name="Oval 128"/>
          <p:cNvSpPr/>
          <p:nvPr/>
        </p:nvSpPr>
        <p:spPr>
          <a:xfrm>
            <a:off x="5212080" y="1700276"/>
            <a:ext cx="420624" cy="420624"/>
          </a:xfrm>
          <a:prstGeom prst="ellipse">
            <a:avLst/>
          </a:prstGeom>
          <a:solidFill>
            <a:srgbClr val="F3F4F6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9" name="MdWarningAmber_g.png" descr="MdWarningAmber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1784401"/>
            <a:ext cx="252374" cy="252374"/>
          </a:xfrm>
          <a:prstGeom prst="rect">
            <a:avLst/>
          </a:prstGeom>
        </p:spPr>
      </p:pic>
      <p:sp>
        <p:nvSpPr>
          <p:cNvPr id="4" name="TextBox 129"/>
          <p:cNvSpPr txBox="1"/>
          <p:nvPr/>
        </p:nvSpPr>
        <p:spPr>
          <a:xfrm>
            <a:off x="5760720" y="1691132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595959"/>
                </a:solidFill>
                <a:latin typeface="Calibri"/>
              </a:rPr>
              <a:t>What could go wrong?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5760720" y="1947164"/>
            <a:ext cx="5440680" cy="2529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The response could contain:</a:t>
            </a:r>
          </a:p>
        </p:txBody>
      </p:sp>
      <p:sp>
        <p:nvSpPr>
          <p:cNvPr id="131" name="Rounded Rectangle 131"/>
          <p:cNvSpPr/>
          <p:nvPr/>
        </p:nvSpPr>
        <p:spPr>
          <a:xfrm>
            <a:off x="5760720" y="2218436"/>
            <a:ext cx="267462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An incorrect interpretation</a:t>
            </a:r>
          </a:p>
        </p:txBody>
      </p:sp>
      <p:sp>
        <p:nvSpPr>
          <p:cNvPr id="132" name="Rounded Rectangle 132"/>
          <p:cNvSpPr/>
          <p:nvPr/>
        </p:nvSpPr>
        <p:spPr>
          <a:xfrm>
            <a:off x="8526780" y="2218436"/>
            <a:ext cx="267462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Missing context</a:t>
            </a:r>
          </a:p>
        </p:txBody>
      </p:sp>
      <p:sp>
        <p:nvSpPr>
          <p:cNvPr id="133" name="Rounded Rectangle 133"/>
          <p:cNvSpPr/>
          <p:nvPr/>
        </p:nvSpPr>
        <p:spPr>
          <a:xfrm>
            <a:off x="5760720" y="2620772"/>
            <a:ext cx="267462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Unsupported conclusions</a:t>
            </a:r>
          </a:p>
        </p:txBody>
      </p:sp>
      <p:sp>
        <p:nvSpPr>
          <p:cNvPr id="134" name="Rounded Rectangle 134"/>
          <p:cNvSpPr/>
          <p:nvPr/>
        </p:nvSpPr>
        <p:spPr>
          <a:xfrm>
            <a:off x="8526780" y="2620772"/>
            <a:ext cx="267462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Information that should not be disclosed</a:t>
            </a:r>
          </a:p>
        </p:txBody>
      </p:sp>
      <p:sp>
        <p:nvSpPr>
          <p:cNvPr id="135" name="Rectangle 135"/>
          <p:cNvSpPr/>
          <p:nvPr/>
        </p:nvSpPr>
        <p:spPr>
          <a:xfrm>
            <a:off x="5029200" y="3251200"/>
            <a:ext cx="6355080" cy="96215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6" name="Oval 136"/>
          <p:cNvSpPr/>
          <p:nvPr/>
        </p:nvSpPr>
        <p:spPr>
          <a:xfrm>
            <a:off x="5212080" y="3415284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7" name="MdPolicy_w.png" descr="MdPolic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3499409"/>
            <a:ext cx="252374" cy="252374"/>
          </a:xfrm>
          <a:prstGeom prst="rect">
            <a:avLst/>
          </a:prstGeom>
        </p:spPr>
      </p:pic>
      <p:sp>
        <p:nvSpPr>
          <p:cNvPr id="5" name="TextBox 137"/>
          <p:cNvSpPr txBox="1"/>
          <p:nvPr/>
        </p:nvSpPr>
        <p:spPr>
          <a:xfrm>
            <a:off x="5760720" y="3406140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5760720" y="3662172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AI-generated content must be reviewed appropriately before it is relied upon for consequential legal work.</a:t>
            </a:r>
          </a:p>
        </p:txBody>
      </p:sp>
      <p:sp>
        <p:nvSpPr>
          <p:cNvPr id="139" name="Rectangle 139"/>
          <p:cNvSpPr/>
          <p:nvPr/>
        </p:nvSpPr>
        <p:spPr>
          <a:xfrm>
            <a:off x="5029200" y="4341368"/>
            <a:ext cx="6355080" cy="962152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0" name="Oval 140"/>
          <p:cNvSpPr/>
          <p:nvPr/>
        </p:nvSpPr>
        <p:spPr>
          <a:xfrm>
            <a:off x="5212080" y="450545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1" name="MdFactCheck_b.png" descr="MdFactCheck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5" y="4589577"/>
            <a:ext cx="252374" cy="252374"/>
          </a:xfrm>
          <a:prstGeom prst="rect">
            <a:avLst/>
          </a:prstGeom>
        </p:spPr>
      </p:pic>
      <p:sp>
        <p:nvSpPr>
          <p:cNvPr id="6" name="TextBox 141"/>
          <p:cNvSpPr txBox="1"/>
          <p:nvPr/>
        </p:nvSpPr>
        <p:spPr>
          <a:xfrm>
            <a:off x="5760720" y="4496308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5760720" y="4752340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Copilot accelerates the work. Maria reviews the result before using it.</a:t>
            </a:r>
          </a:p>
        </p:txBody>
      </p:sp>
      <p:sp>
        <p:nvSpPr>
          <p:cNvPr id="143" name="Rectangle 143"/>
          <p:cNvSpPr/>
          <p:nvPr/>
        </p:nvSpPr>
        <p:spPr>
          <a:xfrm>
            <a:off x="1097280" y="5486400"/>
            <a:ext cx="10287000" cy="4572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Key principle  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AI assists the professional. It does not replace professional accountability.</a:t>
            </a:r>
          </a:p>
        </p:txBody>
      </p:sp>
      <p:sp>
        <p:nvSpPr>
          <p:cNvPr id="8" name="Shape 19">
            <a:extLst>
              <a:ext uri="{FF2B5EF4-FFF2-40B4-BE49-F238E27FC236}">
                <a16:creationId xmlns:a16="http://schemas.microsoft.com/office/drawing/2014/main" id="{2A2DED83-1D9D-A288-6850-36100F7F577F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solidFill>
            <a:srgbClr val="0B1C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20">
            <a:extLst>
              <a:ext uri="{FF2B5EF4-FFF2-40B4-BE49-F238E27FC236}">
                <a16:creationId xmlns:a16="http://schemas.microsoft.com/office/drawing/2014/main" id="{999F8B01-6D1F-CC1B-534F-6F020EFD81D7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DATA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A Request Falls Outside Maria's Role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18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1:30 PM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Someone asks Maria for information from another legal matter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376732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Block_w.png" descr="MdBlo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A colleague asks:</a:t>
            </a:r>
          </a:p>
        </p:txBody>
      </p:sp>
      <p:sp>
        <p:nvSpPr>
          <p:cNvPr id="126" name="Rectangle 126"/>
          <p:cNvSpPr/>
          <p:nvPr/>
        </p:nvSpPr>
        <p:spPr>
          <a:xfrm>
            <a:off x="1325880" y="2874264"/>
            <a:ext cx="324612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7" name="TextBox 127"/>
          <p:cNvSpPr txBox="1"/>
          <p:nvPr/>
        </p:nvSpPr>
        <p:spPr>
          <a:xfrm>
            <a:off x="1508760" y="2874264"/>
            <a:ext cx="2880360" cy="8595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400" b="1" i="1" dirty="0">
                <a:solidFill>
                  <a:srgbClr val="013765"/>
                </a:solidFill>
                <a:latin typeface="Calibri"/>
              </a:rPr>
              <a:t>"Can you use Copilot to pull the negotiation notes from that other matter?"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1325880" y="3843528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Maria is in the Legal department.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1325880" y="4166616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The information exists.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1325880" y="4489704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She has access to Copilot.</a:t>
            </a:r>
          </a:p>
        </p:txBody>
      </p:sp>
      <p:sp>
        <p:nvSpPr>
          <p:cNvPr id="131" name="Rectangle 131"/>
          <p:cNvSpPr/>
          <p:nvPr/>
        </p:nvSpPr>
        <p:spPr>
          <a:xfrm>
            <a:off x="5029200" y="1536192"/>
            <a:ext cx="6355080" cy="1017016"/>
          </a:xfrm>
          <a:prstGeom prst="rect">
            <a:avLst/>
          </a:prstGeom>
          <a:solidFill>
            <a:srgbClr val="E8F2FB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2" name="Oval 132"/>
          <p:cNvSpPr/>
          <p:nvPr/>
        </p:nvSpPr>
        <p:spPr>
          <a:xfrm>
            <a:off x="5212080" y="1727708"/>
            <a:ext cx="420624" cy="420624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3" name="MdHelpOutline_w.png" descr="MdHelpOu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1811833"/>
            <a:ext cx="252374" cy="252374"/>
          </a:xfrm>
          <a:prstGeom prst="rect">
            <a:avLst/>
          </a:prstGeom>
        </p:spPr>
      </p:pic>
      <p:sp>
        <p:nvSpPr>
          <p:cNvPr id="4" name="TextBox 133"/>
          <p:cNvSpPr txBox="1"/>
          <p:nvPr/>
        </p:nvSpPr>
        <p:spPr>
          <a:xfrm>
            <a:off x="5760720" y="1718564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So why shouldn't she simply retrieve it?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5760720" y="1974596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Because </a:t>
            </a:r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being able to use AI does not mean being authorized to access every piece of information.</a:t>
            </a:r>
          </a:p>
        </p:txBody>
      </p:sp>
      <p:sp>
        <p:nvSpPr>
          <p:cNvPr id="135" name="Rectangle 135"/>
          <p:cNvSpPr/>
          <p:nvPr/>
        </p:nvSpPr>
        <p:spPr>
          <a:xfrm>
            <a:off x="5029200" y="2681224"/>
            <a:ext cx="6355080" cy="1477264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6" name="Oval 136"/>
          <p:cNvSpPr/>
          <p:nvPr/>
        </p:nvSpPr>
        <p:spPr>
          <a:xfrm>
            <a:off x="5212080" y="2872740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7" name="MdPolicy_w.png" descr="MdPolic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2956865"/>
            <a:ext cx="252374" cy="252374"/>
          </a:xfrm>
          <a:prstGeom prst="rect">
            <a:avLst/>
          </a:prstGeom>
        </p:spPr>
      </p:pic>
      <p:sp>
        <p:nvSpPr>
          <p:cNvPr id="5" name="TextBox 137"/>
          <p:cNvSpPr txBox="1"/>
          <p:nvPr/>
        </p:nvSpPr>
        <p:spPr>
          <a:xfrm>
            <a:off x="5760720" y="2863596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5760720" y="3119628"/>
            <a:ext cx="5440680" cy="2529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Access must reflect:</a:t>
            </a:r>
          </a:p>
        </p:txBody>
      </p:sp>
      <p:sp>
        <p:nvSpPr>
          <p:cNvPr id="139" name="Rounded Rectangle 139"/>
          <p:cNvSpPr/>
          <p:nvPr/>
        </p:nvSpPr>
        <p:spPr>
          <a:xfrm>
            <a:off x="5760720" y="3390900"/>
            <a:ext cx="1318448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Who the worker is</a:t>
            </a:r>
          </a:p>
        </p:txBody>
      </p:sp>
      <p:sp>
        <p:nvSpPr>
          <p:cNvPr id="140" name="TextBox 140"/>
          <p:cNvSpPr txBox="1"/>
          <p:nvPr/>
        </p:nvSpPr>
        <p:spPr>
          <a:xfrm>
            <a:off x="7079168" y="3390900"/>
            <a:ext cx="292608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i="0" dirty="0">
                <a:solidFill>
                  <a:srgbClr val="0079CF"/>
                </a:solidFill>
                <a:latin typeface="Calibri"/>
              </a:rPr>
              <a:t>+</a:t>
            </a:r>
          </a:p>
        </p:txBody>
      </p:sp>
      <p:sp>
        <p:nvSpPr>
          <p:cNvPr id="141" name="Rounded Rectangle 141"/>
          <p:cNvSpPr/>
          <p:nvPr/>
        </p:nvSpPr>
        <p:spPr>
          <a:xfrm>
            <a:off x="7371776" y="3390900"/>
            <a:ext cx="1447037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What they are doing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8818813" y="3390900"/>
            <a:ext cx="292608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i="0" dirty="0">
                <a:solidFill>
                  <a:srgbClr val="0079CF"/>
                </a:solidFill>
                <a:latin typeface="Calibri"/>
              </a:rPr>
              <a:t>+</a:t>
            </a:r>
          </a:p>
        </p:txBody>
      </p:sp>
      <p:sp>
        <p:nvSpPr>
          <p:cNvPr id="143" name="Rounded Rectangle 143"/>
          <p:cNvSpPr/>
          <p:nvPr/>
        </p:nvSpPr>
        <p:spPr>
          <a:xfrm>
            <a:off x="9111421" y="3390900"/>
            <a:ext cx="2089979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Why they need the information</a:t>
            </a:r>
          </a:p>
        </p:txBody>
      </p:sp>
      <p:sp>
        <p:nvSpPr>
          <p:cNvPr id="144" name="Rectangle 144"/>
          <p:cNvSpPr/>
          <p:nvPr/>
        </p:nvSpPr>
        <p:spPr>
          <a:xfrm>
            <a:off x="5029200" y="4286504"/>
            <a:ext cx="6355080" cy="1017016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5" name="Oval 145"/>
          <p:cNvSpPr/>
          <p:nvPr/>
        </p:nvSpPr>
        <p:spPr>
          <a:xfrm>
            <a:off x="5212080" y="447802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6" name="MdBlock_b.png" descr="MdBlock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5" y="4562145"/>
            <a:ext cx="252374" cy="252374"/>
          </a:xfrm>
          <a:prstGeom prst="rect">
            <a:avLst/>
          </a:prstGeom>
        </p:spPr>
      </p:pic>
      <p:sp>
        <p:nvSpPr>
          <p:cNvPr id="6" name="TextBox 146"/>
          <p:cNvSpPr txBox="1"/>
          <p:nvPr/>
        </p:nvSpPr>
        <p:spPr>
          <a:xfrm>
            <a:off x="5760720" y="4468876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5760720" y="4724908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The request is restricted because the information is outside the permitted scope of her work.</a:t>
            </a:r>
          </a:p>
        </p:txBody>
      </p:sp>
      <p:sp>
        <p:nvSpPr>
          <p:cNvPr id="148" name="Rectangle 148"/>
          <p:cNvSpPr/>
          <p:nvPr/>
        </p:nvSpPr>
        <p:spPr>
          <a:xfrm>
            <a:off x="1097280" y="5486400"/>
            <a:ext cx="10287000" cy="4572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Governance principle  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Authorization follows the business need - not the existence of the information.</a:t>
            </a:r>
          </a:p>
        </p:txBody>
      </p:sp>
      <p:sp>
        <p:nvSpPr>
          <p:cNvPr id="8" name="Shape 19">
            <a:extLst>
              <a:ext uri="{FF2B5EF4-FFF2-40B4-BE49-F238E27FC236}">
                <a16:creationId xmlns:a16="http://schemas.microsoft.com/office/drawing/2014/main" id="{A1F9686E-D185-0620-C4FB-FC34B6E457A1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solidFill>
            <a:srgbClr val="0B1C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20">
            <a:extLst>
              <a:ext uri="{FF2B5EF4-FFF2-40B4-BE49-F238E27FC236}">
                <a16:creationId xmlns:a16="http://schemas.microsoft.com/office/drawing/2014/main" id="{5D80E6D6-CBEF-4FAD-EC66-09D63F8CE7B1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2/4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Prepare Information for Sharing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19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2:30 PM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Maria is ready to share her work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417880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Send_w.png" descr="MdSe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Maria prepares information for a business stakeholder.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1325880" y="3051048"/>
            <a:ext cx="324612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Before sending it, another question arises:</a:t>
            </a:r>
          </a:p>
        </p:txBody>
      </p:sp>
      <p:sp>
        <p:nvSpPr>
          <p:cNvPr id="127" name="Rectangle 127"/>
          <p:cNvSpPr/>
          <p:nvPr/>
        </p:nvSpPr>
        <p:spPr>
          <a:xfrm>
            <a:off x="1325880" y="3624072"/>
            <a:ext cx="324612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8" name="TextBox 128"/>
          <p:cNvSpPr txBox="1"/>
          <p:nvPr/>
        </p:nvSpPr>
        <p:spPr>
          <a:xfrm>
            <a:off x="1508760" y="3624072"/>
            <a:ext cx="2880360" cy="8595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400" b="1" i="1" dirty="0">
                <a:solidFill>
                  <a:srgbClr val="013765"/>
                </a:solidFill>
                <a:latin typeface="Calibri"/>
              </a:rPr>
              <a:t>"Can this information be shared in this form, with this person, for this purpose?"</a:t>
            </a:r>
          </a:p>
        </p:txBody>
      </p:sp>
      <p:sp>
        <p:nvSpPr>
          <p:cNvPr id="129" name="Rectangle 129"/>
          <p:cNvSpPr/>
          <p:nvPr/>
        </p:nvSpPr>
        <p:spPr>
          <a:xfrm>
            <a:off x="5029200" y="1536192"/>
            <a:ext cx="6355080" cy="109931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0" name="Oval 130"/>
          <p:cNvSpPr/>
          <p:nvPr/>
        </p:nvSpPr>
        <p:spPr>
          <a:xfrm>
            <a:off x="5212080" y="1768856"/>
            <a:ext cx="420624" cy="420624"/>
          </a:xfrm>
          <a:prstGeom prst="ellipse">
            <a:avLst/>
          </a:prstGeom>
          <a:solidFill>
            <a:srgbClr val="F3F4F6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1" name="MdWarningAmber_g.png" descr="MdWarningAmber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1852981"/>
            <a:ext cx="252374" cy="252374"/>
          </a:xfrm>
          <a:prstGeom prst="rect">
            <a:avLst/>
          </a:prstGeom>
        </p:spPr>
      </p:pic>
      <p:sp>
        <p:nvSpPr>
          <p:cNvPr id="4" name="TextBox 131"/>
          <p:cNvSpPr txBox="1"/>
          <p:nvPr/>
        </p:nvSpPr>
        <p:spPr>
          <a:xfrm>
            <a:off x="5760720" y="1759712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595959"/>
                </a:solidFill>
                <a:latin typeface="Calibri"/>
              </a:rPr>
              <a:t>What could go wrong?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5760720" y="2015744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Information that is appropriate for internal legal work may not be appropriate for external or broader distribution.</a:t>
            </a:r>
          </a:p>
        </p:txBody>
      </p:sp>
      <p:sp>
        <p:nvSpPr>
          <p:cNvPr id="133" name="Rectangle 133"/>
          <p:cNvSpPr/>
          <p:nvPr/>
        </p:nvSpPr>
        <p:spPr>
          <a:xfrm>
            <a:off x="5029200" y="2763520"/>
            <a:ext cx="6355080" cy="1724152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4" name="Oval 134"/>
          <p:cNvSpPr/>
          <p:nvPr/>
        </p:nvSpPr>
        <p:spPr>
          <a:xfrm>
            <a:off x="5212080" y="2996184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5" name="MdPolicy_w.png" descr="MdPolic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3080309"/>
            <a:ext cx="252374" cy="252374"/>
          </a:xfrm>
          <a:prstGeom prst="rect">
            <a:avLst/>
          </a:prstGeom>
        </p:spPr>
      </p:pic>
      <p:sp>
        <p:nvSpPr>
          <p:cNvPr id="5" name="TextBox 135"/>
          <p:cNvSpPr txBox="1"/>
          <p:nvPr/>
        </p:nvSpPr>
        <p:spPr>
          <a:xfrm>
            <a:off x="5760720" y="2987040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6" name="TextBox 136"/>
          <p:cNvSpPr txBox="1"/>
          <p:nvPr/>
        </p:nvSpPr>
        <p:spPr>
          <a:xfrm>
            <a:off x="5760720" y="3243072"/>
            <a:ext cx="5440680" cy="2529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Information must be protected according to:</a:t>
            </a:r>
          </a:p>
        </p:txBody>
      </p:sp>
      <p:sp>
        <p:nvSpPr>
          <p:cNvPr id="137" name="Rounded Rectangle 137"/>
          <p:cNvSpPr/>
          <p:nvPr/>
        </p:nvSpPr>
        <p:spPr>
          <a:xfrm>
            <a:off x="5760720" y="3514344"/>
            <a:ext cx="175260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Sensitivity</a:t>
            </a:r>
          </a:p>
        </p:txBody>
      </p:sp>
      <p:sp>
        <p:nvSpPr>
          <p:cNvPr id="138" name="Rounded Rectangle 138"/>
          <p:cNvSpPr/>
          <p:nvPr/>
        </p:nvSpPr>
        <p:spPr>
          <a:xfrm>
            <a:off x="7604760" y="3514344"/>
            <a:ext cx="175260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Intended recipient</a:t>
            </a:r>
          </a:p>
        </p:txBody>
      </p:sp>
      <p:sp>
        <p:nvSpPr>
          <p:cNvPr id="139" name="Rounded Rectangle 139"/>
          <p:cNvSpPr/>
          <p:nvPr/>
        </p:nvSpPr>
        <p:spPr>
          <a:xfrm>
            <a:off x="9448800" y="3514344"/>
            <a:ext cx="175260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Business purpose</a:t>
            </a:r>
          </a:p>
        </p:txBody>
      </p:sp>
      <p:sp>
        <p:nvSpPr>
          <p:cNvPr id="140" name="Rounded Rectangle 140"/>
          <p:cNvSpPr/>
          <p:nvPr/>
        </p:nvSpPr>
        <p:spPr>
          <a:xfrm>
            <a:off x="5760720" y="3916680"/>
            <a:ext cx="175260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Applicable policy</a:t>
            </a:r>
          </a:p>
        </p:txBody>
      </p:sp>
      <p:sp>
        <p:nvSpPr>
          <p:cNvPr id="141" name="Rounded Rectangle 141"/>
          <p:cNvSpPr/>
          <p:nvPr/>
        </p:nvSpPr>
        <p:spPr>
          <a:xfrm>
            <a:off x="7604760" y="3916680"/>
            <a:ext cx="1752600" cy="329184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Regulatory requirements</a:t>
            </a:r>
          </a:p>
        </p:txBody>
      </p:sp>
      <p:sp>
        <p:nvSpPr>
          <p:cNvPr id="142" name="Rectangle 142"/>
          <p:cNvSpPr/>
          <p:nvPr/>
        </p:nvSpPr>
        <p:spPr>
          <a:xfrm>
            <a:off x="5029200" y="4615688"/>
            <a:ext cx="6355080" cy="1099312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3" name="Oval 143"/>
          <p:cNvSpPr/>
          <p:nvPr/>
        </p:nvSpPr>
        <p:spPr>
          <a:xfrm>
            <a:off x="5212080" y="484835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4" name="MdVerifiedUser_b.png" descr="MdVerifiedUse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5" y="4932477"/>
            <a:ext cx="252374" cy="252374"/>
          </a:xfrm>
          <a:prstGeom prst="rect">
            <a:avLst/>
          </a:prstGeom>
        </p:spPr>
      </p:pic>
      <p:sp>
        <p:nvSpPr>
          <p:cNvPr id="6" name="TextBox 144"/>
          <p:cNvSpPr txBox="1"/>
          <p:nvPr/>
        </p:nvSpPr>
        <p:spPr>
          <a:xfrm>
            <a:off x="5760720" y="4839208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45" name="TextBox 145"/>
          <p:cNvSpPr txBox="1"/>
          <p:nvPr/>
        </p:nvSpPr>
        <p:spPr>
          <a:xfrm>
            <a:off x="5760720" y="5095240"/>
            <a:ext cx="5440680" cy="4815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The organization helps prevent inappropriate disclosure while allowing legitimate business communication.</a:t>
            </a:r>
          </a:p>
        </p:txBody>
      </p:sp>
      <p:sp>
        <p:nvSpPr>
          <p:cNvPr id="8" name="Shape 19">
            <a:extLst>
              <a:ext uri="{FF2B5EF4-FFF2-40B4-BE49-F238E27FC236}">
                <a16:creationId xmlns:a16="http://schemas.microsoft.com/office/drawing/2014/main" id="{C2AF768C-ED2A-7235-BABD-718AB33B1A16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solidFill>
            <a:srgbClr val="0B1C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20">
            <a:extLst>
              <a:ext uri="{FF2B5EF4-FFF2-40B4-BE49-F238E27FC236}">
                <a16:creationId xmlns:a16="http://schemas.microsoft.com/office/drawing/2014/main" id="{E7C8B8AB-ADC6-E66E-374B-FEB7FAA40019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2/3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A Legal Decision Requires Human Judgment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20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3:30 PM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Copilot provides a recommendation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703320" cy="376732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Oval 124"/>
          <p:cNvSpPr/>
          <p:nvPr/>
        </p:nvSpPr>
        <p:spPr>
          <a:xfrm>
            <a:off x="1325880" y="1764792"/>
            <a:ext cx="566928" cy="566928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5" name="MdGavel_w.png" descr="MdGave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604" y="1889516"/>
            <a:ext cx="317480" cy="317480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325880" y="2514600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Maria asks Copilot:</a:t>
            </a:r>
          </a:p>
        </p:txBody>
      </p:sp>
      <p:sp>
        <p:nvSpPr>
          <p:cNvPr id="126" name="Rectangle 126"/>
          <p:cNvSpPr/>
          <p:nvPr/>
        </p:nvSpPr>
        <p:spPr>
          <a:xfrm>
            <a:off x="1325880" y="2874264"/>
            <a:ext cx="3246120" cy="646176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7" name="TextBox 127"/>
          <p:cNvSpPr txBox="1"/>
          <p:nvPr/>
        </p:nvSpPr>
        <p:spPr>
          <a:xfrm>
            <a:off x="1508760" y="2874264"/>
            <a:ext cx="2880360" cy="64617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400" b="1" i="1" dirty="0">
                <a:solidFill>
                  <a:srgbClr val="013765"/>
                </a:solidFill>
                <a:latin typeface="Calibri"/>
              </a:rPr>
              <a:t>“Can we agree to renew our document management contract and help prepare the letter"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1325880" y="3630168"/>
            <a:ext cx="324612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Copilot produces an answer.</a:t>
            </a:r>
          </a:p>
        </p:txBody>
      </p:sp>
      <p:sp>
        <p:nvSpPr>
          <p:cNvPr id="129" name="Rectangle 129"/>
          <p:cNvSpPr/>
          <p:nvPr/>
        </p:nvSpPr>
        <p:spPr>
          <a:xfrm>
            <a:off x="5029200" y="1536192"/>
            <a:ext cx="6355080" cy="1261872"/>
          </a:xfrm>
          <a:prstGeom prst="rect">
            <a:avLst/>
          </a:prstGeom>
          <a:solidFill>
            <a:srgbClr val="E8F2FB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0" name="Oval 130"/>
          <p:cNvSpPr/>
          <p:nvPr/>
        </p:nvSpPr>
        <p:spPr>
          <a:xfrm>
            <a:off x="5212080" y="1716024"/>
            <a:ext cx="420624" cy="420624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1" name="MdHelpOutline_w.png" descr="MdHelpOu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1800149"/>
            <a:ext cx="252374" cy="252374"/>
          </a:xfrm>
          <a:prstGeom prst="rect">
            <a:avLst/>
          </a:prstGeom>
        </p:spPr>
      </p:pic>
      <p:sp>
        <p:nvSpPr>
          <p:cNvPr id="4" name="TextBox 131"/>
          <p:cNvSpPr txBox="1"/>
          <p:nvPr/>
        </p:nvSpPr>
        <p:spPr>
          <a:xfrm>
            <a:off x="5760720" y="1706880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Now the critical question: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5760720" y="1962912"/>
            <a:ext cx="544068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013765"/>
                </a:solidFill>
                <a:latin typeface="Calibri"/>
              </a:rPr>
              <a:t>Can Maria simply accept the AI-generated answer?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5760720" y="2231136"/>
            <a:ext cx="5440680" cy="45110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No technology can remove the need for appropriate human accountability in a consequential legal decision.</a:t>
            </a:r>
          </a:p>
        </p:txBody>
      </p:sp>
      <p:sp>
        <p:nvSpPr>
          <p:cNvPr id="134" name="Rectangle 134"/>
          <p:cNvSpPr/>
          <p:nvPr/>
        </p:nvSpPr>
        <p:spPr>
          <a:xfrm>
            <a:off x="5029200" y="2926080"/>
            <a:ext cx="6355080" cy="1453896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5" name="Oval 135"/>
          <p:cNvSpPr/>
          <p:nvPr/>
        </p:nvSpPr>
        <p:spPr>
          <a:xfrm>
            <a:off x="5212080" y="3105912"/>
            <a:ext cx="420624" cy="420624"/>
          </a:xfrm>
          <a:prstGeom prst="ellipse">
            <a:avLst/>
          </a:prstGeom>
          <a:solidFill>
            <a:srgbClr val="013765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6" name="MdPolicy_w.png" descr="MdPolic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205" y="3190037"/>
            <a:ext cx="252374" cy="252374"/>
          </a:xfrm>
          <a:prstGeom prst="rect">
            <a:avLst/>
          </a:prstGeom>
        </p:spPr>
      </p:pic>
      <p:sp>
        <p:nvSpPr>
          <p:cNvPr id="5" name="TextBox 136"/>
          <p:cNvSpPr txBox="1"/>
          <p:nvPr/>
        </p:nvSpPr>
        <p:spPr>
          <a:xfrm>
            <a:off x="5760720" y="3096768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0079CF"/>
                </a:solidFill>
                <a:latin typeface="Calibri"/>
              </a:rPr>
              <a:t>What does the organization require?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5760720" y="3352800"/>
            <a:ext cx="5440680" cy="25298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The accountable Legal professional must:</a:t>
            </a:r>
          </a:p>
        </p:txBody>
      </p:sp>
      <p:sp>
        <p:nvSpPr>
          <p:cNvPr id="138" name="Rounded Rectangle 138"/>
          <p:cNvSpPr/>
          <p:nvPr/>
        </p:nvSpPr>
        <p:spPr>
          <a:xfrm>
            <a:off x="5760720" y="3624072"/>
            <a:ext cx="824887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Review the AI output</a:t>
            </a:r>
          </a:p>
        </p:txBody>
      </p:sp>
      <p:cxnSp>
        <p:nvCxnSpPr>
          <p:cNvPr id="139" name="Connector 139"/>
          <p:cNvCxnSpPr/>
          <p:nvPr/>
        </p:nvCxnSpPr>
        <p:spPr>
          <a:xfrm>
            <a:off x="6631327" y="3907536"/>
            <a:ext cx="20116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40" name="Rounded Rectangle 140"/>
          <p:cNvSpPr/>
          <p:nvPr/>
        </p:nvSpPr>
        <p:spPr>
          <a:xfrm>
            <a:off x="6878215" y="3624072"/>
            <a:ext cx="1070530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Validate the relevant facts</a:t>
            </a:r>
          </a:p>
        </p:txBody>
      </p:sp>
      <p:cxnSp>
        <p:nvCxnSpPr>
          <p:cNvPr id="141" name="Connector 141"/>
          <p:cNvCxnSpPr/>
          <p:nvPr/>
        </p:nvCxnSpPr>
        <p:spPr>
          <a:xfrm>
            <a:off x="7994465" y="3907536"/>
            <a:ext cx="20116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42" name="Rounded Rectangle 142"/>
          <p:cNvSpPr/>
          <p:nvPr/>
        </p:nvSpPr>
        <p:spPr>
          <a:xfrm>
            <a:off x="8241353" y="3624072"/>
            <a:ext cx="1070530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Apply professional judgment</a:t>
            </a:r>
          </a:p>
        </p:txBody>
      </p:sp>
      <p:cxnSp>
        <p:nvCxnSpPr>
          <p:cNvPr id="143" name="Connector 143"/>
          <p:cNvCxnSpPr/>
          <p:nvPr/>
        </p:nvCxnSpPr>
        <p:spPr>
          <a:xfrm>
            <a:off x="9357604" y="3907536"/>
            <a:ext cx="201168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44" name="Rounded Rectangle 144"/>
          <p:cNvSpPr/>
          <p:nvPr/>
        </p:nvSpPr>
        <p:spPr>
          <a:xfrm>
            <a:off x="9604492" y="3624072"/>
            <a:ext cx="1596908" cy="566928"/>
          </a:xfrm>
          <a:prstGeom prst="roundRect">
            <a:avLst>
              <a:gd name="adj" fmla="val 12000"/>
            </a:avLst>
          </a:prstGeom>
          <a:solidFill>
            <a:srgbClr val="E8F2FB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013765"/>
                </a:solidFill>
                <a:latin typeface="Calibri"/>
              </a:rPr>
              <a:t>Make or approve the consequential decision</a:t>
            </a:r>
          </a:p>
        </p:txBody>
      </p:sp>
      <p:sp>
        <p:nvSpPr>
          <p:cNvPr id="145" name="Rectangle 145"/>
          <p:cNvSpPr/>
          <p:nvPr/>
        </p:nvSpPr>
        <p:spPr>
          <a:xfrm>
            <a:off x="5029200" y="4507992"/>
            <a:ext cx="6355080" cy="795528"/>
          </a:xfrm>
          <a:prstGeom prst="rect">
            <a:avLst/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6" name="Oval 146"/>
          <p:cNvSpPr/>
          <p:nvPr/>
        </p:nvSpPr>
        <p:spPr>
          <a:xfrm>
            <a:off x="5212080" y="4687824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7" name="MdPerson_b.png" descr="MdPerson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205" y="4771949"/>
            <a:ext cx="252374" cy="252374"/>
          </a:xfrm>
          <a:prstGeom prst="rect">
            <a:avLst/>
          </a:prstGeom>
        </p:spPr>
      </p:pic>
      <p:sp>
        <p:nvSpPr>
          <p:cNvPr id="6" name="TextBox 147"/>
          <p:cNvSpPr txBox="1"/>
          <p:nvPr/>
        </p:nvSpPr>
        <p:spPr>
          <a:xfrm>
            <a:off x="5760720" y="4678680"/>
            <a:ext cx="544068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1" i="0" cap="all" spc="100" dirty="0">
                <a:solidFill>
                  <a:srgbClr val="99D6EA"/>
                </a:solidFill>
                <a:latin typeface="Calibri"/>
              </a:rPr>
              <a:t>What does Maria experience?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5760720" y="4934712"/>
            <a:ext cx="5440680" cy="2682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Copilot assists. Maria remains accountable.</a:t>
            </a:r>
          </a:p>
        </p:txBody>
      </p:sp>
      <p:sp>
        <p:nvSpPr>
          <p:cNvPr id="149" name="Rectangle 149"/>
          <p:cNvSpPr/>
          <p:nvPr/>
        </p:nvSpPr>
        <p:spPr>
          <a:xfrm>
            <a:off x="1097280" y="5486400"/>
            <a:ext cx="10287000" cy="4572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Governance principle  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The more consequential the decision, the clearer the human accountability must be.</a:t>
            </a:r>
          </a:p>
        </p:txBody>
      </p:sp>
      <p:sp>
        <p:nvSpPr>
          <p:cNvPr id="8" name="Shape 19">
            <a:extLst>
              <a:ext uri="{FF2B5EF4-FFF2-40B4-BE49-F238E27FC236}">
                <a16:creationId xmlns:a16="http://schemas.microsoft.com/office/drawing/2014/main" id="{828F4423-3D9C-6DBD-02ED-456EF1B38202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solidFill>
            <a:srgbClr val="0B1C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20">
            <a:extLst>
              <a:ext uri="{FF2B5EF4-FFF2-40B4-BE49-F238E27FC236}">
                <a16:creationId xmlns:a16="http://schemas.microsoft.com/office/drawing/2014/main" id="{7252D6DC-D157-E9BF-56E4-34A62FEB77DB}"/>
              </a:ext>
            </a:extLst>
          </p:cNvPr>
          <p:cNvSpPr/>
          <p:nvPr/>
        </p:nvSpPr>
        <p:spPr>
          <a:xfrm>
            <a:off x="10405872" y="7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DEMO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800" dirty="0"/>
              <a:t>Can t</a:t>
            </a:r>
            <a:r>
              <a:rPr sz="2800" dirty="0"/>
              <a:t>he Organization Prove What Happened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21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Rounded Rectangle 102"/>
          <p:cNvSpPr/>
          <p:nvPr/>
        </p:nvSpPr>
        <p:spPr>
          <a:xfrm>
            <a:off x="314553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8:30 AM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87705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4" name="Rounded Rectangle 104"/>
          <p:cNvSpPr/>
          <p:nvPr/>
        </p:nvSpPr>
        <p:spPr>
          <a:xfrm>
            <a:off x="402336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9:00 AM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75488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6" name="Rounded Rectangle 106"/>
          <p:cNvSpPr/>
          <p:nvPr/>
        </p:nvSpPr>
        <p:spPr>
          <a:xfrm>
            <a:off x="490118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10:00 AM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63270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08" name="Rounded Rectangle 108"/>
          <p:cNvSpPr/>
          <p:nvPr/>
        </p:nvSpPr>
        <p:spPr>
          <a:xfrm>
            <a:off x="577900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10:30 AM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51052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0" name="Rounded Rectangle 110"/>
          <p:cNvSpPr/>
          <p:nvPr/>
        </p:nvSpPr>
        <p:spPr>
          <a:xfrm>
            <a:off x="665683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11:00 AM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388352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2" name="Rounded Rectangle 112"/>
          <p:cNvSpPr/>
          <p:nvPr/>
        </p:nvSpPr>
        <p:spPr>
          <a:xfrm>
            <a:off x="7534656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12:00 PM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8266176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4" name="Rounded Rectangle 114"/>
          <p:cNvSpPr/>
          <p:nvPr/>
        </p:nvSpPr>
        <p:spPr>
          <a:xfrm>
            <a:off x="8412480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1:30 PM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144000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6" name="Rounded Rectangle 116"/>
          <p:cNvSpPr/>
          <p:nvPr/>
        </p:nvSpPr>
        <p:spPr>
          <a:xfrm>
            <a:off x="9290304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2:30 PM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0021824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18" name="Rounded Rectangle 118"/>
          <p:cNvSpPr/>
          <p:nvPr/>
        </p:nvSpPr>
        <p:spPr>
          <a:xfrm>
            <a:off x="10168128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8C8C8C"/>
                </a:solidFill>
                <a:latin typeface="Calibri"/>
              </a:rPr>
              <a:t>3:30 PM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10899648" y="256032"/>
            <a:ext cx="14630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 i="0" dirty="0">
                <a:solidFill>
                  <a:srgbClr val="8C8C8C"/>
                </a:solidFill>
                <a:latin typeface="Calibri"/>
              </a:rPr>
              <a:t>›</a:t>
            </a:r>
          </a:p>
        </p:txBody>
      </p:sp>
      <p:sp>
        <p:nvSpPr>
          <p:cNvPr id="120" name="Rounded Rectangle 120"/>
          <p:cNvSpPr/>
          <p:nvPr/>
        </p:nvSpPr>
        <p:spPr>
          <a:xfrm>
            <a:off x="11045952" y="256032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079CF"/>
          </a:solidFill>
          <a:ln w="9525">
            <a:solidFill>
              <a:srgbClr val="0079CF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4:30 PM</a:t>
            </a:r>
          </a:p>
        </p:txBody>
      </p:sp>
      <p:sp>
        <p:nvSpPr>
          <p:cNvPr id="121" name="Rounded Rectangle 121"/>
          <p:cNvSpPr/>
          <p:nvPr/>
        </p:nvSpPr>
        <p:spPr>
          <a:xfrm>
            <a:off x="1097280" y="1110996"/>
            <a:ext cx="786384" cy="237744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4:30 PM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901952" y="1106424"/>
            <a:ext cx="82296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Maria's workday is almost over</a:t>
            </a:r>
          </a:p>
        </p:txBody>
      </p:sp>
      <p:sp>
        <p:nvSpPr>
          <p:cNvPr id="123" name="Rectangle 123"/>
          <p:cNvSpPr/>
          <p:nvPr/>
        </p:nvSpPr>
        <p:spPr>
          <a:xfrm>
            <a:off x="1097280" y="1536192"/>
            <a:ext cx="3246120" cy="30175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4" name="TextBox 124"/>
          <p:cNvSpPr txBox="1"/>
          <p:nvPr/>
        </p:nvSpPr>
        <p:spPr>
          <a:xfrm>
            <a:off x="1325880" y="171907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Throughout the day, AI has helped Maria:</a:t>
            </a:r>
          </a:p>
        </p:txBody>
      </p:sp>
      <p:pic>
        <p:nvPicPr>
          <p:cNvPr id="125" name="MdSearch_b.png" descr="MdSearch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12848"/>
            <a:ext cx="256032" cy="256032"/>
          </a:xfrm>
          <a:prstGeom prst="rect">
            <a:avLst/>
          </a:prstGeom>
        </p:spPr>
      </p:pic>
      <p:sp>
        <p:nvSpPr>
          <p:cNvPr id="3" name="TextBox 125"/>
          <p:cNvSpPr txBox="1"/>
          <p:nvPr/>
        </p:nvSpPr>
        <p:spPr>
          <a:xfrm>
            <a:off x="1691640" y="2194560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Find information</a:t>
            </a:r>
          </a:p>
        </p:txBody>
      </p:sp>
      <p:pic>
        <p:nvPicPr>
          <p:cNvPr id="126" name="MdDescription_b.png" descr="MdDescription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578608"/>
            <a:ext cx="256032" cy="256032"/>
          </a:xfrm>
          <a:prstGeom prst="rect">
            <a:avLst/>
          </a:prstGeom>
        </p:spPr>
      </p:pic>
      <p:sp>
        <p:nvSpPr>
          <p:cNvPr id="4" name="TextBox 126"/>
          <p:cNvSpPr txBox="1"/>
          <p:nvPr/>
        </p:nvSpPr>
        <p:spPr>
          <a:xfrm>
            <a:off x="1691640" y="2560320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Review documents</a:t>
            </a:r>
          </a:p>
        </p:txBody>
      </p:sp>
      <p:pic>
        <p:nvPicPr>
          <p:cNvPr id="127" name="MdEditNote_b.png" descr="MdEditNote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44368"/>
            <a:ext cx="256032" cy="256032"/>
          </a:xfrm>
          <a:prstGeom prst="rect">
            <a:avLst/>
          </a:prstGeom>
        </p:spPr>
      </p:pic>
      <p:sp>
        <p:nvSpPr>
          <p:cNvPr id="5" name="TextBox 127"/>
          <p:cNvSpPr txBox="1"/>
          <p:nvPr/>
        </p:nvSpPr>
        <p:spPr>
          <a:xfrm>
            <a:off x="1691640" y="2926080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Prepare content</a:t>
            </a:r>
          </a:p>
        </p:txBody>
      </p:sp>
      <p:pic>
        <p:nvPicPr>
          <p:cNvPr id="128" name="MdTimeline_b.png" descr="MdTimelin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3310128"/>
            <a:ext cx="256032" cy="256032"/>
          </a:xfrm>
          <a:prstGeom prst="rect">
            <a:avLst/>
          </a:prstGeom>
        </p:spPr>
      </p:pic>
      <p:sp>
        <p:nvSpPr>
          <p:cNvPr id="6" name="TextBox 128"/>
          <p:cNvSpPr txBox="1"/>
          <p:nvPr/>
        </p:nvSpPr>
        <p:spPr>
          <a:xfrm>
            <a:off x="1691640" y="3291840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Analyze information</a:t>
            </a:r>
          </a:p>
        </p:txBody>
      </p:sp>
      <p:pic>
        <p:nvPicPr>
          <p:cNvPr id="129" name="MdGavel_b.png" descr="MdGavel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3675888"/>
            <a:ext cx="256032" cy="256032"/>
          </a:xfrm>
          <a:prstGeom prst="rect">
            <a:avLst/>
          </a:prstGeom>
        </p:spPr>
      </p:pic>
      <p:sp>
        <p:nvSpPr>
          <p:cNvPr id="7" name="TextBox 129"/>
          <p:cNvSpPr txBox="1"/>
          <p:nvPr/>
        </p:nvSpPr>
        <p:spPr>
          <a:xfrm>
            <a:off x="1691640" y="3657600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Develop a legal response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1325880" y="411480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250" b="0" i="1" dirty="0">
                <a:solidFill>
                  <a:srgbClr val="262626"/>
                </a:solidFill>
                <a:latin typeface="Calibri"/>
              </a:rPr>
              <a:t>But governance is not complete simply because controls operated.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4572000" y="1536192"/>
            <a:ext cx="68122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0079CF"/>
                </a:solidFill>
                <a:latin typeface="Calibri"/>
              </a:rPr>
              <a:t>The organization also needs to know:</a:t>
            </a:r>
          </a:p>
        </p:txBody>
      </p:sp>
      <p:sp>
        <p:nvSpPr>
          <p:cNvPr id="132" name="Rectangle 132"/>
          <p:cNvSpPr/>
          <p:nvPr/>
        </p:nvSpPr>
        <p:spPr>
          <a:xfrm>
            <a:off x="4572000" y="1901952"/>
            <a:ext cx="3337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3" name="Oval 133"/>
          <p:cNvSpPr/>
          <p:nvPr/>
        </p:nvSpPr>
        <p:spPr>
          <a:xfrm>
            <a:off x="4709160" y="2002536"/>
            <a:ext cx="365760" cy="3657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4" name="MdPeopleOutline_w.png" descr="MdPeopleOu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627" y="2083003"/>
            <a:ext cx="204826" cy="204826"/>
          </a:xfrm>
          <a:prstGeom prst="rect">
            <a:avLst/>
          </a:prstGeom>
        </p:spPr>
      </p:pic>
      <p:sp>
        <p:nvSpPr>
          <p:cNvPr id="8" name="TextBox 134"/>
          <p:cNvSpPr txBox="1"/>
          <p:nvPr/>
        </p:nvSpPr>
        <p:spPr>
          <a:xfrm>
            <a:off x="5212080" y="1901952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Who used AI?</a:t>
            </a:r>
          </a:p>
        </p:txBody>
      </p:sp>
      <p:sp>
        <p:nvSpPr>
          <p:cNvPr id="135" name="Rectangle 135"/>
          <p:cNvSpPr/>
          <p:nvPr/>
        </p:nvSpPr>
        <p:spPr>
          <a:xfrm>
            <a:off x="8046720" y="1901952"/>
            <a:ext cx="3337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6" name="Oval 136"/>
          <p:cNvSpPr/>
          <p:nvPr/>
        </p:nvSpPr>
        <p:spPr>
          <a:xfrm>
            <a:off x="8183880" y="2002536"/>
            <a:ext cx="365760" cy="3657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7" name="MdWorkOutline_w.png" descr="MdWorkOutlin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4347" y="2083003"/>
            <a:ext cx="204826" cy="204826"/>
          </a:xfrm>
          <a:prstGeom prst="rect">
            <a:avLst/>
          </a:prstGeom>
        </p:spPr>
      </p:pic>
      <p:sp>
        <p:nvSpPr>
          <p:cNvPr id="9" name="TextBox 137"/>
          <p:cNvSpPr txBox="1"/>
          <p:nvPr/>
        </p:nvSpPr>
        <p:spPr>
          <a:xfrm>
            <a:off x="8686800" y="1901952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business activity was being performed?</a:t>
            </a:r>
          </a:p>
        </p:txBody>
      </p:sp>
      <p:sp>
        <p:nvSpPr>
          <p:cNvPr id="138" name="Rectangle 138"/>
          <p:cNvSpPr/>
          <p:nvPr/>
        </p:nvSpPr>
        <p:spPr>
          <a:xfrm>
            <a:off x="4572000" y="2578608"/>
            <a:ext cx="3337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9" name="Oval 139"/>
          <p:cNvSpPr/>
          <p:nvPr/>
        </p:nvSpPr>
        <p:spPr>
          <a:xfrm>
            <a:off x="4709160" y="2679192"/>
            <a:ext cx="365760" cy="3657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0" name="MdDescription_w.png" descr="MdDescription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9627" y="2759659"/>
            <a:ext cx="204826" cy="204826"/>
          </a:xfrm>
          <a:prstGeom prst="rect">
            <a:avLst/>
          </a:prstGeom>
        </p:spPr>
      </p:pic>
      <p:sp>
        <p:nvSpPr>
          <p:cNvPr id="10" name="TextBox 140"/>
          <p:cNvSpPr txBox="1"/>
          <p:nvPr/>
        </p:nvSpPr>
        <p:spPr>
          <a:xfrm>
            <a:off x="5212080" y="2578608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information was involved?</a:t>
            </a:r>
          </a:p>
        </p:txBody>
      </p:sp>
      <p:sp>
        <p:nvSpPr>
          <p:cNvPr id="141" name="Rectangle 141"/>
          <p:cNvSpPr/>
          <p:nvPr/>
        </p:nvSpPr>
        <p:spPr>
          <a:xfrm>
            <a:off x="8046720" y="2578608"/>
            <a:ext cx="3337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2" name="Oval 142"/>
          <p:cNvSpPr/>
          <p:nvPr/>
        </p:nvSpPr>
        <p:spPr>
          <a:xfrm>
            <a:off x="8183880" y="2679192"/>
            <a:ext cx="365760" cy="3657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3" name="MdShield_w.png" descr="MdShiel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64347" y="2759659"/>
            <a:ext cx="204826" cy="204826"/>
          </a:xfrm>
          <a:prstGeom prst="rect">
            <a:avLst/>
          </a:prstGeom>
        </p:spPr>
      </p:pic>
      <p:sp>
        <p:nvSpPr>
          <p:cNvPr id="11" name="TextBox 143"/>
          <p:cNvSpPr txBox="1"/>
          <p:nvPr/>
        </p:nvSpPr>
        <p:spPr>
          <a:xfrm>
            <a:off x="8686800" y="2578608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protections applied?</a:t>
            </a:r>
          </a:p>
        </p:txBody>
      </p:sp>
      <p:sp>
        <p:nvSpPr>
          <p:cNvPr id="144" name="Rectangle 144"/>
          <p:cNvSpPr/>
          <p:nvPr/>
        </p:nvSpPr>
        <p:spPr>
          <a:xfrm>
            <a:off x="4572000" y="3255264"/>
            <a:ext cx="3337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5" name="Oval 145"/>
          <p:cNvSpPr/>
          <p:nvPr/>
        </p:nvSpPr>
        <p:spPr>
          <a:xfrm>
            <a:off x="4709160" y="3355848"/>
            <a:ext cx="365760" cy="3657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6" name="MdBlock_w.png" descr="MdBlock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89627" y="3436315"/>
            <a:ext cx="204826" cy="204826"/>
          </a:xfrm>
          <a:prstGeom prst="rect">
            <a:avLst/>
          </a:prstGeom>
        </p:spPr>
      </p:pic>
      <p:sp>
        <p:nvSpPr>
          <p:cNvPr id="12" name="TextBox 146"/>
          <p:cNvSpPr txBox="1"/>
          <p:nvPr/>
        </p:nvSpPr>
        <p:spPr>
          <a:xfrm>
            <a:off x="5212080" y="3255264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When was access restricted?</a:t>
            </a:r>
          </a:p>
        </p:txBody>
      </p:sp>
      <p:sp>
        <p:nvSpPr>
          <p:cNvPr id="147" name="Rectangle 147"/>
          <p:cNvSpPr/>
          <p:nvPr/>
        </p:nvSpPr>
        <p:spPr>
          <a:xfrm>
            <a:off x="8046720" y="3255264"/>
            <a:ext cx="3337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8" name="Oval 148"/>
          <p:cNvSpPr/>
          <p:nvPr/>
        </p:nvSpPr>
        <p:spPr>
          <a:xfrm>
            <a:off x="8183880" y="3355848"/>
            <a:ext cx="365760" cy="3657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49" name="MdPerson_w.png" descr="MdPerson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64347" y="3436315"/>
            <a:ext cx="204826" cy="204826"/>
          </a:xfrm>
          <a:prstGeom prst="rect">
            <a:avLst/>
          </a:prstGeom>
        </p:spPr>
      </p:pic>
      <p:sp>
        <p:nvSpPr>
          <p:cNvPr id="13" name="TextBox 149"/>
          <p:cNvSpPr txBox="1"/>
          <p:nvPr/>
        </p:nvSpPr>
        <p:spPr>
          <a:xfrm>
            <a:off x="8686800" y="3255264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Where was human review required?</a:t>
            </a:r>
          </a:p>
        </p:txBody>
      </p:sp>
      <p:sp>
        <p:nvSpPr>
          <p:cNvPr id="150" name="Rectangle 150"/>
          <p:cNvSpPr/>
          <p:nvPr/>
        </p:nvSpPr>
        <p:spPr>
          <a:xfrm>
            <a:off x="4572000" y="3931920"/>
            <a:ext cx="3337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51" name="Oval 151"/>
          <p:cNvSpPr/>
          <p:nvPr/>
        </p:nvSpPr>
        <p:spPr>
          <a:xfrm>
            <a:off x="4709160" y="4032504"/>
            <a:ext cx="365760" cy="3657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52" name="MdGavel_w.png" descr="MdGavel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89627" y="4112971"/>
            <a:ext cx="204826" cy="204826"/>
          </a:xfrm>
          <a:prstGeom prst="rect">
            <a:avLst/>
          </a:prstGeom>
        </p:spPr>
      </p:pic>
      <p:sp>
        <p:nvSpPr>
          <p:cNvPr id="14" name="TextBox 152"/>
          <p:cNvSpPr txBox="1"/>
          <p:nvPr/>
        </p:nvSpPr>
        <p:spPr>
          <a:xfrm>
            <a:off x="5212080" y="39319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decision or action resulted?</a:t>
            </a:r>
          </a:p>
        </p:txBody>
      </p:sp>
      <p:sp>
        <p:nvSpPr>
          <p:cNvPr id="153" name="Rectangle 153"/>
          <p:cNvSpPr/>
          <p:nvPr/>
        </p:nvSpPr>
        <p:spPr>
          <a:xfrm>
            <a:off x="8046720" y="3931920"/>
            <a:ext cx="3337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54" name="Oval 154"/>
          <p:cNvSpPr/>
          <p:nvPr/>
        </p:nvSpPr>
        <p:spPr>
          <a:xfrm>
            <a:off x="8183880" y="4032504"/>
            <a:ext cx="365760" cy="36576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55" name="MdFactCheck_w.png" descr="MdFactCheck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64347" y="4112971"/>
            <a:ext cx="204826" cy="204826"/>
          </a:xfrm>
          <a:prstGeom prst="rect">
            <a:avLst/>
          </a:prstGeom>
        </p:spPr>
      </p:pic>
      <p:sp>
        <p:nvSpPr>
          <p:cNvPr id="15" name="TextBox 155"/>
          <p:cNvSpPr txBox="1"/>
          <p:nvPr/>
        </p:nvSpPr>
        <p:spPr>
          <a:xfrm>
            <a:off x="8686800" y="39319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evidence remains?</a:t>
            </a:r>
          </a:p>
        </p:txBody>
      </p:sp>
      <p:sp>
        <p:nvSpPr>
          <p:cNvPr id="156" name="Rectangle 156"/>
          <p:cNvSpPr/>
          <p:nvPr/>
        </p:nvSpPr>
        <p:spPr>
          <a:xfrm>
            <a:off x="1097280" y="4736592"/>
            <a:ext cx="10287000" cy="548640"/>
          </a:xfrm>
          <a:prstGeom prst="rect">
            <a:avLst/>
          </a:prstGeom>
          <a:solidFill>
            <a:srgbClr val="E8F2FB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57" name="TextBox 157"/>
          <p:cNvSpPr txBox="1"/>
          <p:nvPr/>
        </p:nvSpPr>
        <p:spPr>
          <a:xfrm>
            <a:off x="1371600" y="4736592"/>
            <a:ext cx="973836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0079CF"/>
                </a:solidFill>
                <a:latin typeface="Calibri"/>
              </a:rPr>
              <a:t>The question   </a:t>
            </a:r>
            <a:r>
              <a:rPr lang="en-US" sz="1600" b="1" i="1" dirty="0">
                <a:solidFill>
                  <a:srgbClr val="013765"/>
                </a:solidFill>
                <a:latin typeface="Calibri"/>
              </a:rPr>
              <a:t>"Can we prove that governance operated when it mattered?"</a:t>
            </a:r>
          </a:p>
        </p:txBody>
      </p:sp>
      <p:sp>
        <p:nvSpPr>
          <p:cNvPr id="158" name="Rectangle 158"/>
          <p:cNvSpPr/>
          <p:nvPr/>
        </p:nvSpPr>
        <p:spPr>
          <a:xfrm>
            <a:off x="1097280" y="5394960"/>
            <a:ext cx="10287000" cy="4572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Business outcome  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The organization can demonstrate how AI was used and how the associated risks were managed.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What Maria's Day Demonstrated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22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1014984" y="1106424"/>
            <a:ext cx="100584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Governance was embedded in the work</a:t>
            </a:r>
          </a:p>
        </p:txBody>
      </p:sp>
      <p:graphicFrame>
        <p:nvGraphicFramePr>
          <p:cNvPr id="103" name="Table 103"/>
          <p:cNvGraphicFramePr>
            <a:graphicFrameLocks noGrp="1"/>
          </p:cNvGraphicFramePr>
          <p:nvPr/>
        </p:nvGraphicFramePr>
        <p:xfrm>
          <a:off x="1097280" y="1463040"/>
          <a:ext cx="4143587" cy="3419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3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9776">
                  <a:extLst>
                    <a:ext uri="{9D8B030D-6E8A-4147-A177-3AD203B41FA5}">
                      <a16:colId xmlns:a16="http://schemas.microsoft.com/office/drawing/2014/main" val="95862259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Maria's Activity</a:t>
                      </a:r>
                    </a:p>
                  </a:txBody>
                  <a:tcPr marL="109728" marR="109728" marT="27432" marB="27432" anchor="ctr">
                    <a:solidFill>
                      <a:srgbClr val="01376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What Maria Experiences</a:t>
                      </a:r>
                    </a:p>
                  </a:txBody>
                  <a:tcPr marL="109728" marR="109728" marT="27432" marB="27432" anchor="ctr">
                    <a:solidFill>
                      <a:srgbClr val="0137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Start work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Appropriate access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Review contract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Relevant assistance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Find information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Relevant information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Work with sensitive data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Appropriate safeguards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Use only what is needed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Focused information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Prepare response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AI-assisted drafting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Request outside role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Request restricted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Share information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Appropriate sharing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Make legal decision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Professional review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13765"/>
                          </a:solidFill>
                          <a:latin typeface="Calibri"/>
                        </a:rPr>
                        <a:t>End the day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i="0" dirty="0">
                          <a:solidFill>
                            <a:srgbClr val="0079CF"/>
                          </a:solidFill>
                          <a:latin typeface="Calibri"/>
                        </a:rPr>
                        <a:t>Governable activity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4" name="Rectangle 104"/>
          <p:cNvSpPr/>
          <p:nvPr/>
        </p:nvSpPr>
        <p:spPr>
          <a:xfrm>
            <a:off x="1097280" y="5029200"/>
            <a:ext cx="10287000" cy="9144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000" b="1" i="0" cap="all" spc="150" dirty="0">
                <a:solidFill>
                  <a:srgbClr val="99D6EA"/>
                </a:solidFill>
                <a:latin typeface="Calibri"/>
              </a:rPr>
              <a:t>The important point</a:t>
            </a:r>
          </a:p>
          <a:p>
            <a:pPr algn="l">
              <a:spcBef>
                <a:spcPts val="400"/>
              </a:spcBef>
            </a:pP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Governance was transparent to Maria.</a:t>
            </a:r>
            <a:r>
              <a:rPr lang="en-US" sz="1500" b="0" i="1" dirty="0">
                <a:solidFill>
                  <a:srgbClr val="FFFFFF"/>
                </a:solidFill>
                <a:latin typeface="Calibri"/>
              </a:rPr>
              <a:t>   She performed her job.   </a:t>
            </a:r>
            <a:r>
              <a:rPr lang="en-US" sz="1500" b="1" i="0" dirty="0">
                <a:solidFill>
                  <a:srgbClr val="FFFFFF"/>
                </a:solidFill>
                <a:latin typeface="Calibri"/>
              </a:rPr>
              <a:t>Governance operated through the job.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E9F3922-1D3F-B372-7CC7-DD14DACACE35}"/>
              </a:ext>
            </a:extLst>
          </p:cNvPr>
          <p:cNvGraphicFramePr>
            <a:graphicFrameLocks noGrp="1"/>
          </p:cNvGraphicFramePr>
          <p:nvPr/>
        </p:nvGraphicFramePr>
        <p:xfrm>
          <a:off x="6197600" y="1463040"/>
          <a:ext cx="5341256" cy="3419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70628">
                  <a:extLst>
                    <a:ext uri="{9D8B030D-6E8A-4147-A177-3AD203B41FA5}">
                      <a16:colId xmlns:a16="http://schemas.microsoft.com/office/drawing/2014/main" val="3119051328"/>
                    </a:ext>
                  </a:extLst>
                </a:gridCol>
                <a:gridCol w="2670628">
                  <a:extLst>
                    <a:ext uri="{9D8B030D-6E8A-4147-A177-3AD203B41FA5}">
                      <a16:colId xmlns:a16="http://schemas.microsoft.com/office/drawing/2014/main" val="7865064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What Could Go Wrong</a:t>
                      </a:r>
                    </a:p>
                  </a:txBody>
                  <a:tcPr marL="109728" marR="109728" marT="27432" marB="27432" anchor="ctr">
                    <a:solidFill>
                      <a:srgbClr val="01376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Control Requirements</a:t>
                      </a:r>
                    </a:p>
                  </a:txBody>
                  <a:tcPr marL="109728" marR="109728" marT="27432" marB="27432" anchor="ctr">
                    <a:solidFill>
                      <a:srgbClr val="0137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506406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Wrong person gains access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Identity &amp; access requirements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7192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Unrelated information exposed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Authorized use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16475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Information outside role retrieved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Information access boundaries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235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Inappropriate handling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Protection requirements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40492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Unnecessary information exposed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Purpose-based use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2697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Incorrect AI-generated content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Human review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17922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Unauthorized access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Authorization boundary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277444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Inappropriate disclosure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Sharing protections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65225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AI replaces human judgment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Human accountability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499304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595959"/>
                          </a:solidFill>
                          <a:latin typeface="Calibri"/>
                        </a:rPr>
                        <a:t>No evidence of governance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0" i="0" dirty="0">
                          <a:solidFill>
                            <a:srgbClr val="262626"/>
                          </a:solidFill>
                          <a:latin typeface="Calibri"/>
                        </a:rPr>
                        <a:t>Monitoring &amp; evidence</a:t>
                      </a:r>
                    </a:p>
                  </a:txBody>
                  <a:tcPr marL="109728" marR="109728" marT="27432" marB="27432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15735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32597F5-0122-5D33-CAED-2289D3A30270}"/>
              </a:ext>
            </a:extLst>
          </p:cNvPr>
          <p:cNvSpPr txBox="1"/>
          <p:nvPr/>
        </p:nvSpPr>
        <p:spPr>
          <a:xfrm rot="16200000">
            <a:off x="4806163" y="3081866"/>
            <a:ext cx="1826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GOVERNANCE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4CA7F-0848-E45B-5CAA-3FE8CBB0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1BECA-A3B8-6623-6FFA-3D3E2CC70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Govern the AI-enabled business process</a:t>
            </a:r>
            <a:endParaRPr sz="2800" dirty="0"/>
          </a:p>
        </p:txBody>
      </p:sp>
      <p:sp>
        <p:nvSpPr>
          <p:cNvPr id="101" name="Slide number">
            <a:extLst>
              <a:ext uri="{FF2B5EF4-FFF2-40B4-BE49-F238E27FC236}">
                <a16:creationId xmlns:a16="http://schemas.microsoft.com/office/drawing/2014/main" id="{AF5CB0B2-ECA9-5153-2BA6-92FD955E3D4C}"/>
              </a:ext>
            </a:extLst>
          </p:cNvPr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23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3" name="TextBox 103">
            <a:extLst>
              <a:ext uri="{FF2B5EF4-FFF2-40B4-BE49-F238E27FC236}">
                <a16:creationId xmlns:a16="http://schemas.microsoft.com/office/drawing/2014/main" id="{A47FD1A3-F405-79B8-4BEC-10DEEF29F328}"/>
              </a:ext>
            </a:extLst>
          </p:cNvPr>
          <p:cNvSpPr txBox="1"/>
          <p:nvPr/>
        </p:nvSpPr>
        <p:spPr>
          <a:xfrm>
            <a:off x="1093279" y="4253653"/>
            <a:ext cx="102870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The outcome is:   </a:t>
            </a:r>
            <a:r>
              <a:rPr lang="en-US" sz="2200" b="1" i="0" dirty="0">
                <a:solidFill>
                  <a:srgbClr val="0079CF"/>
                </a:solidFill>
                <a:latin typeface="Calibri"/>
              </a:rPr>
              <a:t>Controlled Business Use of AI</a:t>
            </a:r>
          </a:p>
        </p:txBody>
      </p:sp>
      <p:sp>
        <p:nvSpPr>
          <p:cNvPr id="104" name="Rectangle 104">
            <a:extLst>
              <a:ext uri="{FF2B5EF4-FFF2-40B4-BE49-F238E27FC236}">
                <a16:creationId xmlns:a16="http://schemas.microsoft.com/office/drawing/2014/main" id="{7D9833E4-8D95-0E03-87CE-766297AE128F}"/>
              </a:ext>
            </a:extLst>
          </p:cNvPr>
          <p:cNvSpPr/>
          <p:nvPr/>
        </p:nvSpPr>
        <p:spPr>
          <a:xfrm>
            <a:off x="1093279" y="4848013"/>
            <a:ext cx="1125855" cy="566928"/>
          </a:xfrm>
          <a:prstGeom prst="roundRect">
            <a:avLst>
              <a:gd name="adj" fmla="val 12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AI Capability</a:t>
            </a:r>
          </a:p>
        </p:txBody>
      </p:sp>
      <p:cxnSp>
        <p:nvCxnSpPr>
          <p:cNvPr id="105" name="Connector 105">
            <a:extLst>
              <a:ext uri="{FF2B5EF4-FFF2-40B4-BE49-F238E27FC236}">
                <a16:creationId xmlns:a16="http://schemas.microsoft.com/office/drawing/2014/main" id="{C558DCE0-ACA9-B196-4BFB-BF0B967D85F9}"/>
              </a:ext>
            </a:extLst>
          </p:cNvPr>
          <p:cNvCxnSpPr/>
          <p:nvPr/>
        </p:nvCxnSpPr>
        <p:spPr>
          <a:xfrm>
            <a:off x="2237422" y="5131477"/>
            <a:ext cx="146304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06" name="Rectangle 106">
            <a:extLst>
              <a:ext uri="{FF2B5EF4-FFF2-40B4-BE49-F238E27FC236}">
                <a16:creationId xmlns:a16="http://schemas.microsoft.com/office/drawing/2014/main" id="{70783E8B-5D30-E925-87CC-0BE35ED4DC01}"/>
              </a:ext>
            </a:extLst>
          </p:cNvPr>
          <p:cNvSpPr/>
          <p:nvPr/>
        </p:nvSpPr>
        <p:spPr>
          <a:xfrm>
            <a:off x="2402014" y="4848013"/>
            <a:ext cx="1125855" cy="566928"/>
          </a:xfrm>
          <a:prstGeom prst="roundRect">
            <a:avLst>
              <a:gd name="adj" fmla="val 12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Business Use Case</a:t>
            </a:r>
          </a:p>
        </p:txBody>
      </p:sp>
      <p:cxnSp>
        <p:nvCxnSpPr>
          <p:cNvPr id="107" name="Connector 107">
            <a:extLst>
              <a:ext uri="{FF2B5EF4-FFF2-40B4-BE49-F238E27FC236}">
                <a16:creationId xmlns:a16="http://schemas.microsoft.com/office/drawing/2014/main" id="{64A35AAA-62A9-5D3E-CB2B-7C2358AA1428}"/>
              </a:ext>
            </a:extLst>
          </p:cNvPr>
          <p:cNvCxnSpPr/>
          <p:nvPr/>
        </p:nvCxnSpPr>
        <p:spPr>
          <a:xfrm>
            <a:off x="3546157" y="5131477"/>
            <a:ext cx="146304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08" name="Rectangle 108">
            <a:extLst>
              <a:ext uri="{FF2B5EF4-FFF2-40B4-BE49-F238E27FC236}">
                <a16:creationId xmlns:a16="http://schemas.microsoft.com/office/drawing/2014/main" id="{79D0CB75-4220-4795-E665-540192E25BA6}"/>
              </a:ext>
            </a:extLst>
          </p:cNvPr>
          <p:cNvSpPr/>
          <p:nvPr/>
        </p:nvSpPr>
        <p:spPr>
          <a:xfrm>
            <a:off x="3710749" y="4848013"/>
            <a:ext cx="1125855" cy="566928"/>
          </a:xfrm>
          <a:prstGeom prst="roundRect">
            <a:avLst>
              <a:gd name="adj" fmla="val 12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Risk &amp; Requirement</a:t>
            </a:r>
          </a:p>
        </p:txBody>
      </p:sp>
      <p:cxnSp>
        <p:nvCxnSpPr>
          <p:cNvPr id="109" name="Connector 109">
            <a:extLst>
              <a:ext uri="{FF2B5EF4-FFF2-40B4-BE49-F238E27FC236}">
                <a16:creationId xmlns:a16="http://schemas.microsoft.com/office/drawing/2014/main" id="{92BE6AA1-04C1-224F-632D-C7FB20B641C2}"/>
              </a:ext>
            </a:extLst>
          </p:cNvPr>
          <p:cNvCxnSpPr/>
          <p:nvPr/>
        </p:nvCxnSpPr>
        <p:spPr>
          <a:xfrm>
            <a:off x="4854892" y="5131477"/>
            <a:ext cx="146304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10" name="Rectangle 110">
            <a:extLst>
              <a:ext uri="{FF2B5EF4-FFF2-40B4-BE49-F238E27FC236}">
                <a16:creationId xmlns:a16="http://schemas.microsoft.com/office/drawing/2014/main" id="{1123DBED-8D7B-83FB-6F6F-6E2290E1A3E0}"/>
              </a:ext>
            </a:extLst>
          </p:cNvPr>
          <p:cNvSpPr/>
          <p:nvPr/>
        </p:nvSpPr>
        <p:spPr>
          <a:xfrm>
            <a:off x="5019484" y="4848013"/>
            <a:ext cx="1125855" cy="566928"/>
          </a:xfrm>
          <a:prstGeom prst="roundRect">
            <a:avLst>
              <a:gd name="adj" fmla="val 12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cxnSp>
        <p:nvCxnSpPr>
          <p:cNvPr id="111" name="Connector 111">
            <a:extLst>
              <a:ext uri="{FF2B5EF4-FFF2-40B4-BE49-F238E27FC236}">
                <a16:creationId xmlns:a16="http://schemas.microsoft.com/office/drawing/2014/main" id="{96B6BB16-8DF2-4ACC-330E-6102DB526DE3}"/>
              </a:ext>
            </a:extLst>
          </p:cNvPr>
          <p:cNvCxnSpPr/>
          <p:nvPr/>
        </p:nvCxnSpPr>
        <p:spPr>
          <a:xfrm>
            <a:off x="6163627" y="5131477"/>
            <a:ext cx="146304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12" name="Rectangle 112">
            <a:extLst>
              <a:ext uri="{FF2B5EF4-FFF2-40B4-BE49-F238E27FC236}">
                <a16:creationId xmlns:a16="http://schemas.microsoft.com/office/drawing/2014/main" id="{C4B8433A-8A00-E86D-7308-691BDB36FDB5}"/>
              </a:ext>
            </a:extLst>
          </p:cNvPr>
          <p:cNvSpPr/>
          <p:nvPr/>
        </p:nvSpPr>
        <p:spPr>
          <a:xfrm>
            <a:off x="6328219" y="4848013"/>
            <a:ext cx="1125855" cy="566928"/>
          </a:xfrm>
          <a:prstGeom prst="roundRect">
            <a:avLst>
              <a:gd name="adj" fmla="val 12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cxnSp>
        <p:nvCxnSpPr>
          <p:cNvPr id="113" name="Connector 113">
            <a:extLst>
              <a:ext uri="{FF2B5EF4-FFF2-40B4-BE49-F238E27FC236}">
                <a16:creationId xmlns:a16="http://schemas.microsoft.com/office/drawing/2014/main" id="{B726484F-9B81-767E-5227-CD9B494CE4B0}"/>
              </a:ext>
            </a:extLst>
          </p:cNvPr>
          <p:cNvCxnSpPr/>
          <p:nvPr/>
        </p:nvCxnSpPr>
        <p:spPr>
          <a:xfrm>
            <a:off x="7472362" y="5131477"/>
            <a:ext cx="146304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14" name="Rectangle 114">
            <a:extLst>
              <a:ext uri="{FF2B5EF4-FFF2-40B4-BE49-F238E27FC236}">
                <a16:creationId xmlns:a16="http://schemas.microsoft.com/office/drawing/2014/main" id="{82511296-CD07-358B-1C81-7ED4A7F32626}"/>
              </a:ext>
            </a:extLst>
          </p:cNvPr>
          <p:cNvSpPr/>
          <p:nvPr/>
        </p:nvSpPr>
        <p:spPr>
          <a:xfrm>
            <a:off x="7636954" y="4848013"/>
            <a:ext cx="1125855" cy="566928"/>
          </a:xfrm>
          <a:prstGeom prst="roundRect">
            <a:avLst>
              <a:gd name="adj" fmla="val 12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cxnSp>
        <p:nvCxnSpPr>
          <p:cNvPr id="115" name="Connector 115">
            <a:extLst>
              <a:ext uri="{FF2B5EF4-FFF2-40B4-BE49-F238E27FC236}">
                <a16:creationId xmlns:a16="http://schemas.microsoft.com/office/drawing/2014/main" id="{CF3ED0E6-11A7-57A5-F661-D14FEDC217B1}"/>
              </a:ext>
            </a:extLst>
          </p:cNvPr>
          <p:cNvCxnSpPr/>
          <p:nvPr/>
        </p:nvCxnSpPr>
        <p:spPr>
          <a:xfrm>
            <a:off x="8781097" y="5131477"/>
            <a:ext cx="146304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16" name="Rectangle 116">
            <a:extLst>
              <a:ext uri="{FF2B5EF4-FFF2-40B4-BE49-F238E27FC236}">
                <a16:creationId xmlns:a16="http://schemas.microsoft.com/office/drawing/2014/main" id="{056B5138-24C9-F482-5A4C-5C7DF3B1EDDE}"/>
              </a:ext>
            </a:extLst>
          </p:cNvPr>
          <p:cNvSpPr/>
          <p:nvPr/>
        </p:nvSpPr>
        <p:spPr>
          <a:xfrm>
            <a:off x="8945689" y="4848013"/>
            <a:ext cx="1125855" cy="566928"/>
          </a:xfrm>
          <a:prstGeom prst="roundRect">
            <a:avLst>
              <a:gd name="adj" fmla="val 12000"/>
            </a:avLst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Human </a:t>
            </a:r>
          </a:p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Oversight</a:t>
            </a:r>
          </a:p>
        </p:txBody>
      </p:sp>
      <p:cxnSp>
        <p:nvCxnSpPr>
          <p:cNvPr id="117" name="Connector 117">
            <a:extLst>
              <a:ext uri="{FF2B5EF4-FFF2-40B4-BE49-F238E27FC236}">
                <a16:creationId xmlns:a16="http://schemas.microsoft.com/office/drawing/2014/main" id="{06C58A47-B272-AF0D-F729-7A60B8185E44}"/>
              </a:ext>
            </a:extLst>
          </p:cNvPr>
          <p:cNvCxnSpPr/>
          <p:nvPr/>
        </p:nvCxnSpPr>
        <p:spPr>
          <a:xfrm>
            <a:off x="10089832" y="5131477"/>
            <a:ext cx="146304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18" name="Rectangle 118">
            <a:extLst>
              <a:ext uri="{FF2B5EF4-FFF2-40B4-BE49-F238E27FC236}">
                <a16:creationId xmlns:a16="http://schemas.microsoft.com/office/drawing/2014/main" id="{2B45DBD4-4EE3-9ECC-5540-7EAE70A7E35E}"/>
              </a:ext>
            </a:extLst>
          </p:cNvPr>
          <p:cNvSpPr/>
          <p:nvPr/>
        </p:nvSpPr>
        <p:spPr>
          <a:xfrm>
            <a:off x="10254424" y="4848013"/>
            <a:ext cx="1125855" cy="566928"/>
          </a:xfrm>
          <a:prstGeom prst="roundRect">
            <a:avLst>
              <a:gd name="adj" fmla="val 12000"/>
            </a:avLst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8" name="TextBox 120">
            <a:extLst>
              <a:ext uri="{FF2B5EF4-FFF2-40B4-BE49-F238E27FC236}">
                <a16:creationId xmlns:a16="http://schemas.microsoft.com/office/drawing/2014/main" id="{B728ABD2-2CCE-A9B2-25A6-756F906A2BC0}"/>
              </a:ext>
            </a:extLst>
          </p:cNvPr>
          <p:cNvSpPr txBox="1"/>
          <p:nvPr/>
        </p:nvSpPr>
        <p:spPr>
          <a:xfrm>
            <a:off x="1092200" y="1548722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900" b="1" i="0" cap="all" spc="150" dirty="0">
                <a:solidFill>
                  <a:srgbClr val="0079CF"/>
                </a:solidFill>
                <a:latin typeface="Calibri"/>
              </a:rPr>
              <a:t>What we demonstrated today</a:t>
            </a:r>
          </a:p>
        </p:txBody>
      </p:sp>
      <p:sp>
        <p:nvSpPr>
          <p:cNvPr id="10" name="TextBox 121">
            <a:extLst>
              <a:ext uri="{FF2B5EF4-FFF2-40B4-BE49-F238E27FC236}">
                <a16:creationId xmlns:a16="http://schemas.microsoft.com/office/drawing/2014/main" id="{06D622CC-4676-FD15-E205-A82712BD921A}"/>
              </a:ext>
            </a:extLst>
          </p:cNvPr>
          <p:cNvSpPr txBox="1"/>
          <p:nvPr/>
        </p:nvSpPr>
        <p:spPr>
          <a:xfrm>
            <a:off x="1092200" y="1777322"/>
            <a:ext cx="102870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Maria used AI throughout her working day.</a:t>
            </a:r>
          </a:p>
        </p:txBody>
      </p:sp>
      <p:sp>
        <p:nvSpPr>
          <p:cNvPr id="12" name="Rectangle 122">
            <a:extLst>
              <a:ext uri="{FF2B5EF4-FFF2-40B4-BE49-F238E27FC236}">
                <a16:creationId xmlns:a16="http://schemas.microsoft.com/office/drawing/2014/main" id="{15C15CBD-738F-098C-7F4E-627D0CEAF4E7}"/>
              </a:ext>
            </a:extLst>
          </p:cNvPr>
          <p:cNvSpPr/>
          <p:nvPr/>
        </p:nvSpPr>
        <p:spPr>
          <a:xfrm>
            <a:off x="1092200" y="2143082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4" name="Oval 123">
            <a:extLst>
              <a:ext uri="{FF2B5EF4-FFF2-40B4-BE49-F238E27FC236}">
                <a16:creationId xmlns:a16="http://schemas.microsoft.com/office/drawing/2014/main" id="{49C2C129-BE55-8CF5-8DA2-F12C92CD274A}"/>
              </a:ext>
            </a:extLst>
          </p:cNvPr>
          <p:cNvSpPr/>
          <p:nvPr/>
        </p:nvSpPr>
        <p:spPr>
          <a:xfrm>
            <a:off x="1229360" y="2353394"/>
            <a:ext cx="402336" cy="40233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6" name="MdCheckCircle_w.png" descr="MdCheckCircle_w.png">
            <a:extLst>
              <a:ext uri="{FF2B5EF4-FFF2-40B4-BE49-F238E27FC236}">
                <a16:creationId xmlns:a16="http://schemas.microsoft.com/office/drawing/2014/main" id="{F5A5D956-BDCD-F064-54EB-CFCE889CB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874" y="2441908"/>
            <a:ext cx="225308" cy="225308"/>
          </a:xfrm>
          <a:prstGeom prst="rect">
            <a:avLst/>
          </a:prstGeom>
        </p:spPr>
      </p:pic>
      <p:sp>
        <p:nvSpPr>
          <p:cNvPr id="18" name="TextBox 124">
            <a:extLst>
              <a:ext uri="{FF2B5EF4-FFF2-40B4-BE49-F238E27FC236}">
                <a16:creationId xmlns:a16="http://schemas.microsoft.com/office/drawing/2014/main" id="{A3C49382-11CE-E466-6C1B-9BE792CFE6FC}"/>
              </a:ext>
            </a:extLst>
          </p:cNvPr>
          <p:cNvSpPr txBox="1"/>
          <p:nvPr/>
        </p:nvSpPr>
        <p:spPr>
          <a:xfrm>
            <a:off x="1750568" y="2143082"/>
            <a:ext cx="1719072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Sometimes AI helped.</a:t>
            </a:r>
          </a:p>
        </p:txBody>
      </p:sp>
      <p:sp>
        <p:nvSpPr>
          <p:cNvPr id="20" name="Rectangle 125">
            <a:extLst>
              <a:ext uri="{FF2B5EF4-FFF2-40B4-BE49-F238E27FC236}">
                <a16:creationId xmlns:a16="http://schemas.microsoft.com/office/drawing/2014/main" id="{76567824-0EA7-FAC1-F8EE-89313977C2A2}"/>
              </a:ext>
            </a:extLst>
          </p:cNvPr>
          <p:cNvSpPr/>
          <p:nvPr/>
        </p:nvSpPr>
        <p:spPr>
          <a:xfrm>
            <a:off x="3698240" y="2143082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22" name="Oval 126">
            <a:extLst>
              <a:ext uri="{FF2B5EF4-FFF2-40B4-BE49-F238E27FC236}">
                <a16:creationId xmlns:a16="http://schemas.microsoft.com/office/drawing/2014/main" id="{7B56BA5D-5080-605E-92EF-A383E8CFA59A}"/>
              </a:ext>
            </a:extLst>
          </p:cNvPr>
          <p:cNvSpPr/>
          <p:nvPr/>
        </p:nvSpPr>
        <p:spPr>
          <a:xfrm>
            <a:off x="3835400" y="2353394"/>
            <a:ext cx="402336" cy="40233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24" name="MdBlock_w.png" descr="MdBlock_w.png">
            <a:extLst>
              <a:ext uri="{FF2B5EF4-FFF2-40B4-BE49-F238E27FC236}">
                <a16:creationId xmlns:a16="http://schemas.microsoft.com/office/drawing/2014/main" id="{C4EAA2FE-5CA9-9514-BDC9-1A37E6235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3914" y="2441908"/>
            <a:ext cx="225308" cy="225308"/>
          </a:xfrm>
          <a:prstGeom prst="rect">
            <a:avLst/>
          </a:prstGeom>
        </p:spPr>
      </p:pic>
      <p:sp>
        <p:nvSpPr>
          <p:cNvPr id="26" name="TextBox 127">
            <a:extLst>
              <a:ext uri="{FF2B5EF4-FFF2-40B4-BE49-F238E27FC236}">
                <a16:creationId xmlns:a16="http://schemas.microsoft.com/office/drawing/2014/main" id="{B7C1C249-9875-780D-A6E9-15B6D626ECCE}"/>
              </a:ext>
            </a:extLst>
          </p:cNvPr>
          <p:cNvSpPr txBox="1"/>
          <p:nvPr/>
        </p:nvSpPr>
        <p:spPr>
          <a:xfrm>
            <a:off x="4356608" y="2143082"/>
            <a:ext cx="1719072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Sometimes information was restricted.</a:t>
            </a:r>
          </a:p>
        </p:txBody>
      </p:sp>
      <p:sp>
        <p:nvSpPr>
          <p:cNvPr id="28" name="Rectangle 128">
            <a:extLst>
              <a:ext uri="{FF2B5EF4-FFF2-40B4-BE49-F238E27FC236}">
                <a16:creationId xmlns:a16="http://schemas.microsoft.com/office/drawing/2014/main" id="{C30347F8-7D2C-C121-5E35-6CDC3F51E232}"/>
              </a:ext>
            </a:extLst>
          </p:cNvPr>
          <p:cNvSpPr/>
          <p:nvPr/>
        </p:nvSpPr>
        <p:spPr>
          <a:xfrm>
            <a:off x="6304280" y="2143082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30" name="Oval 129">
            <a:extLst>
              <a:ext uri="{FF2B5EF4-FFF2-40B4-BE49-F238E27FC236}">
                <a16:creationId xmlns:a16="http://schemas.microsoft.com/office/drawing/2014/main" id="{8230201D-8B5A-B872-0D82-927DE73E843B}"/>
              </a:ext>
            </a:extLst>
          </p:cNvPr>
          <p:cNvSpPr/>
          <p:nvPr/>
        </p:nvSpPr>
        <p:spPr>
          <a:xfrm>
            <a:off x="6441440" y="2353394"/>
            <a:ext cx="402336" cy="40233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32" name="MdShield_w.png" descr="MdShield_w.png">
            <a:extLst>
              <a:ext uri="{FF2B5EF4-FFF2-40B4-BE49-F238E27FC236}">
                <a16:creationId xmlns:a16="http://schemas.microsoft.com/office/drawing/2014/main" id="{409280DE-647A-21B0-00EA-0787DF05B6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9954" y="2441908"/>
            <a:ext cx="225308" cy="225308"/>
          </a:xfrm>
          <a:prstGeom prst="rect">
            <a:avLst/>
          </a:prstGeom>
        </p:spPr>
      </p:pic>
      <p:sp>
        <p:nvSpPr>
          <p:cNvPr id="34" name="TextBox 130">
            <a:extLst>
              <a:ext uri="{FF2B5EF4-FFF2-40B4-BE49-F238E27FC236}">
                <a16:creationId xmlns:a16="http://schemas.microsoft.com/office/drawing/2014/main" id="{BCD5C8C3-69BC-B2CE-15F0-AD3DC0E9E1EB}"/>
              </a:ext>
            </a:extLst>
          </p:cNvPr>
          <p:cNvSpPr txBox="1"/>
          <p:nvPr/>
        </p:nvSpPr>
        <p:spPr>
          <a:xfrm>
            <a:off x="6962648" y="2143082"/>
            <a:ext cx="1719072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Sometimes additional protection was required.</a:t>
            </a:r>
          </a:p>
        </p:txBody>
      </p:sp>
      <p:sp>
        <p:nvSpPr>
          <p:cNvPr id="36" name="Rectangle 131">
            <a:extLst>
              <a:ext uri="{FF2B5EF4-FFF2-40B4-BE49-F238E27FC236}">
                <a16:creationId xmlns:a16="http://schemas.microsoft.com/office/drawing/2014/main" id="{039738B2-669E-79E8-5DE0-7E82855E2625}"/>
              </a:ext>
            </a:extLst>
          </p:cNvPr>
          <p:cNvSpPr/>
          <p:nvPr/>
        </p:nvSpPr>
        <p:spPr>
          <a:xfrm>
            <a:off x="8910320" y="2143082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38" name="Oval 132">
            <a:extLst>
              <a:ext uri="{FF2B5EF4-FFF2-40B4-BE49-F238E27FC236}">
                <a16:creationId xmlns:a16="http://schemas.microsoft.com/office/drawing/2014/main" id="{1E3ADBE8-A3B9-4588-C9E1-E140FACBFC0E}"/>
              </a:ext>
            </a:extLst>
          </p:cNvPr>
          <p:cNvSpPr/>
          <p:nvPr/>
        </p:nvSpPr>
        <p:spPr>
          <a:xfrm>
            <a:off x="9047480" y="2353394"/>
            <a:ext cx="402336" cy="40233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40" name="MdPerson_w.png" descr="MdPerson_w.png">
            <a:extLst>
              <a:ext uri="{FF2B5EF4-FFF2-40B4-BE49-F238E27FC236}">
                <a16:creationId xmlns:a16="http://schemas.microsoft.com/office/drawing/2014/main" id="{AF37ABC4-3F81-B3F1-AFCA-DDE2054B9D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5994" y="2441908"/>
            <a:ext cx="225308" cy="225308"/>
          </a:xfrm>
          <a:prstGeom prst="rect">
            <a:avLst/>
          </a:prstGeom>
        </p:spPr>
      </p:pic>
      <p:sp>
        <p:nvSpPr>
          <p:cNvPr id="42" name="TextBox 133">
            <a:extLst>
              <a:ext uri="{FF2B5EF4-FFF2-40B4-BE49-F238E27FC236}">
                <a16:creationId xmlns:a16="http://schemas.microsoft.com/office/drawing/2014/main" id="{7653210C-ABD4-4527-6564-74D898F7CDD1}"/>
              </a:ext>
            </a:extLst>
          </p:cNvPr>
          <p:cNvSpPr txBox="1"/>
          <p:nvPr/>
        </p:nvSpPr>
        <p:spPr>
          <a:xfrm>
            <a:off x="9568688" y="2143082"/>
            <a:ext cx="1719072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13765"/>
                </a:solidFill>
                <a:latin typeface="Calibri"/>
              </a:rPr>
              <a:t>Sometimes Maria needed to review the result herself.</a:t>
            </a:r>
          </a:p>
        </p:txBody>
      </p:sp>
      <p:sp>
        <p:nvSpPr>
          <p:cNvPr id="44" name="Rectangle 134">
            <a:extLst>
              <a:ext uri="{FF2B5EF4-FFF2-40B4-BE49-F238E27FC236}">
                <a16:creationId xmlns:a16="http://schemas.microsoft.com/office/drawing/2014/main" id="{3F0246CA-8DA8-07CB-0FA7-2A3D4C795A9B}"/>
              </a:ext>
            </a:extLst>
          </p:cNvPr>
          <p:cNvSpPr/>
          <p:nvPr/>
        </p:nvSpPr>
        <p:spPr>
          <a:xfrm>
            <a:off x="1092200" y="3194642"/>
            <a:ext cx="10287000" cy="6858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>
            <a:noAutofit/>
          </a:bodyPr>
          <a:lstStyle/>
          <a:p>
            <a:pPr algn="l"/>
            <a:r>
              <a:rPr lang="en-US" sz="1200" b="0" i="1" dirty="0">
                <a:solidFill>
                  <a:srgbClr val="99D6EA"/>
                </a:solidFill>
                <a:latin typeface="Calibri"/>
              </a:rPr>
              <a:t>And throughout the day:</a:t>
            </a:r>
          </a:p>
          <a:p>
            <a:pPr algn="l">
              <a:spcBef>
                <a:spcPts val="200"/>
              </a:spcBef>
            </a:pPr>
            <a:r>
              <a:rPr lang="en-US" sz="1800" b="1" i="0" dirty="0">
                <a:solidFill>
                  <a:srgbClr val="FFFFFF"/>
                </a:solidFill>
                <a:latin typeface="Calibri"/>
              </a:rPr>
              <a:t>Governance operated behind the work.</a:t>
            </a:r>
          </a:p>
        </p:txBody>
      </p:sp>
    </p:spTree>
    <p:extLst>
      <p:ext uri="{BB962C8B-B14F-4D97-AF65-F5344CB8AC3E}">
        <p14:creationId xmlns:p14="http://schemas.microsoft.com/office/powerpoint/2010/main" val="1344928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From Demonstration to Operating Model</a:t>
            </a:r>
          </a:p>
        </p:txBody>
      </p:sp>
      <p:sp>
        <p:nvSpPr>
          <p:cNvPr id="101" name="Slide number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15528-21DE-4FAA-801E-634DDDAF4B2B}" type="slidenum">
              <a:rPr lang="en-US" sz="900">
                <a:solidFill>
                  <a:srgbClr val="8C8C8C"/>
                </a:solidFill>
                <a:latin typeface="Calibri"/>
              </a:rPr>
              <a:t>24</a:t>
            </a:fld>
            <a:endParaRPr lang="en-US" sz="900">
              <a:solidFill>
                <a:srgbClr val="8C8C8C"/>
              </a:solidFill>
              <a:latin typeface="Calibri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1014984" y="1106424"/>
            <a:ext cx="10058400" cy="274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/>
            <a:r>
              <a:rPr lang="en-US" sz="1100" b="1" i="0" cap="all" spc="200" dirty="0">
                <a:solidFill>
                  <a:srgbClr val="262626"/>
                </a:solidFill>
                <a:latin typeface="Calibri"/>
              </a:rPr>
              <a:t>The demonstration is a small example of the enterprise governance model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1097280" y="1444752"/>
            <a:ext cx="102870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The same approach can be applied to other AI-enabled business processes.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1097280" y="193852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900" b="1" i="0" cap="all" spc="150" dirty="0">
                <a:solidFill>
                  <a:srgbClr val="0079CF"/>
                </a:solidFill>
                <a:latin typeface="Calibri"/>
              </a:rPr>
              <a:t>Every use case answers:</a:t>
            </a:r>
          </a:p>
        </p:txBody>
      </p:sp>
      <p:sp>
        <p:nvSpPr>
          <p:cNvPr id="105" name="Rectangle 105"/>
          <p:cNvSpPr/>
          <p:nvPr/>
        </p:nvSpPr>
        <p:spPr>
          <a:xfrm>
            <a:off x="1097280" y="2240280"/>
            <a:ext cx="1281466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06" name="Oval 106"/>
          <p:cNvSpPr/>
          <p:nvPr/>
        </p:nvSpPr>
        <p:spPr>
          <a:xfrm>
            <a:off x="1491125" y="2395728"/>
            <a:ext cx="493776" cy="49377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07" name="MdBusinessCenter_w.png" descr="MdBusinessCente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756" y="2504359"/>
            <a:ext cx="276515" cy="276515"/>
          </a:xfrm>
          <a:prstGeom prst="rect">
            <a:avLst/>
          </a:prstGeom>
        </p:spPr>
      </p:pic>
      <p:sp>
        <p:nvSpPr>
          <p:cNvPr id="3" name="TextBox 107"/>
          <p:cNvSpPr txBox="1"/>
          <p:nvPr/>
        </p:nvSpPr>
        <p:spPr>
          <a:xfrm>
            <a:off x="1188720" y="2990088"/>
            <a:ext cx="1098586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is the business activity?</a:t>
            </a:r>
          </a:p>
        </p:txBody>
      </p:sp>
      <p:cxnSp>
        <p:nvCxnSpPr>
          <p:cNvPr id="108" name="Connector 108"/>
          <p:cNvCxnSpPr/>
          <p:nvPr/>
        </p:nvCxnSpPr>
        <p:spPr>
          <a:xfrm>
            <a:off x="2406178" y="3035808"/>
            <a:ext cx="164592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09" name="Rectangle 109"/>
          <p:cNvSpPr/>
          <p:nvPr/>
        </p:nvSpPr>
        <p:spPr>
          <a:xfrm>
            <a:off x="2598202" y="2240280"/>
            <a:ext cx="1281466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10" name="Oval 110"/>
          <p:cNvSpPr/>
          <p:nvPr/>
        </p:nvSpPr>
        <p:spPr>
          <a:xfrm>
            <a:off x="2992047" y="2395728"/>
            <a:ext cx="493776" cy="49377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11" name="MdWarningAmber_w.png" descr="MdWarningAmb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678" y="2504359"/>
            <a:ext cx="276515" cy="276515"/>
          </a:xfrm>
          <a:prstGeom prst="rect">
            <a:avLst/>
          </a:prstGeom>
        </p:spPr>
      </p:pic>
      <p:sp>
        <p:nvSpPr>
          <p:cNvPr id="4" name="TextBox 111"/>
          <p:cNvSpPr txBox="1"/>
          <p:nvPr/>
        </p:nvSpPr>
        <p:spPr>
          <a:xfrm>
            <a:off x="2689642" y="2990088"/>
            <a:ext cx="1098586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could go wrong?</a:t>
            </a:r>
          </a:p>
        </p:txBody>
      </p:sp>
      <p:cxnSp>
        <p:nvCxnSpPr>
          <p:cNvPr id="112" name="Connector 112"/>
          <p:cNvCxnSpPr/>
          <p:nvPr/>
        </p:nvCxnSpPr>
        <p:spPr>
          <a:xfrm>
            <a:off x="3907101" y="3035808"/>
            <a:ext cx="164592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13" name="Rectangle 113"/>
          <p:cNvSpPr/>
          <p:nvPr/>
        </p:nvSpPr>
        <p:spPr>
          <a:xfrm>
            <a:off x="4099125" y="2240280"/>
            <a:ext cx="1281466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14" name="Oval 114"/>
          <p:cNvSpPr/>
          <p:nvPr/>
        </p:nvSpPr>
        <p:spPr>
          <a:xfrm>
            <a:off x="4492970" y="2395728"/>
            <a:ext cx="493776" cy="49377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15" name="MdRuleFolder_w.png" descr="MdRuleFold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600" y="2504359"/>
            <a:ext cx="276515" cy="276515"/>
          </a:xfrm>
          <a:prstGeom prst="rect">
            <a:avLst/>
          </a:prstGeom>
        </p:spPr>
      </p:pic>
      <p:sp>
        <p:nvSpPr>
          <p:cNvPr id="5" name="TextBox 115"/>
          <p:cNvSpPr txBox="1"/>
          <p:nvPr/>
        </p:nvSpPr>
        <p:spPr>
          <a:xfrm>
            <a:off x="4190565" y="2990088"/>
            <a:ext cx="1098586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do we require?</a:t>
            </a:r>
          </a:p>
        </p:txBody>
      </p:sp>
      <p:cxnSp>
        <p:nvCxnSpPr>
          <p:cNvPr id="116" name="Connector 116"/>
          <p:cNvCxnSpPr/>
          <p:nvPr/>
        </p:nvCxnSpPr>
        <p:spPr>
          <a:xfrm>
            <a:off x="5408023" y="3035808"/>
            <a:ext cx="164592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17" name="Rectangle 117"/>
          <p:cNvSpPr/>
          <p:nvPr/>
        </p:nvSpPr>
        <p:spPr>
          <a:xfrm>
            <a:off x="5600047" y="2240280"/>
            <a:ext cx="1281466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18" name="Oval 118"/>
          <p:cNvSpPr/>
          <p:nvPr/>
        </p:nvSpPr>
        <p:spPr>
          <a:xfrm>
            <a:off x="5993892" y="2395728"/>
            <a:ext cx="493776" cy="49377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19" name="MdPolicy_w.png" descr="MdPolic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2523" y="2504359"/>
            <a:ext cx="276515" cy="276515"/>
          </a:xfrm>
          <a:prstGeom prst="rect">
            <a:avLst/>
          </a:prstGeom>
        </p:spPr>
      </p:pic>
      <p:sp>
        <p:nvSpPr>
          <p:cNvPr id="6" name="TextBox 119"/>
          <p:cNvSpPr txBox="1"/>
          <p:nvPr/>
        </p:nvSpPr>
        <p:spPr>
          <a:xfrm>
            <a:off x="5691487" y="2990088"/>
            <a:ext cx="1098586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policy governs it?</a:t>
            </a:r>
          </a:p>
        </p:txBody>
      </p:sp>
      <p:cxnSp>
        <p:nvCxnSpPr>
          <p:cNvPr id="120" name="Connector 120"/>
          <p:cNvCxnSpPr/>
          <p:nvPr/>
        </p:nvCxnSpPr>
        <p:spPr>
          <a:xfrm>
            <a:off x="6908945" y="3035808"/>
            <a:ext cx="164592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21" name="Rectangle 121"/>
          <p:cNvSpPr/>
          <p:nvPr/>
        </p:nvSpPr>
        <p:spPr>
          <a:xfrm>
            <a:off x="7100969" y="2240280"/>
            <a:ext cx="1281466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2" name="Oval 122"/>
          <p:cNvSpPr/>
          <p:nvPr/>
        </p:nvSpPr>
        <p:spPr>
          <a:xfrm>
            <a:off x="7494814" y="2395728"/>
            <a:ext cx="493776" cy="49377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3" name="MdShield_w.png" descr="Md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3445" y="2504359"/>
            <a:ext cx="276515" cy="276515"/>
          </a:xfrm>
          <a:prstGeom prst="rect">
            <a:avLst/>
          </a:prstGeom>
        </p:spPr>
      </p:pic>
      <p:sp>
        <p:nvSpPr>
          <p:cNvPr id="7" name="TextBox 123"/>
          <p:cNvSpPr txBox="1"/>
          <p:nvPr/>
        </p:nvSpPr>
        <p:spPr>
          <a:xfrm>
            <a:off x="7192409" y="2990088"/>
            <a:ext cx="1098586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What control makes it real?</a:t>
            </a:r>
          </a:p>
        </p:txBody>
      </p:sp>
      <p:cxnSp>
        <p:nvCxnSpPr>
          <p:cNvPr id="124" name="Connector 124"/>
          <p:cNvCxnSpPr/>
          <p:nvPr/>
        </p:nvCxnSpPr>
        <p:spPr>
          <a:xfrm>
            <a:off x="8409867" y="3035808"/>
            <a:ext cx="164592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25" name="Rectangle 125"/>
          <p:cNvSpPr/>
          <p:nvPr/>
        </p:nvSpPr>
        <p:spPr>
          <a:xfrm>
            <a:off x="8601891" y="2240280"/>
            <a:ext cx="1281466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26" name="Oval 126"/>
          <p:cNvSpPr/>
          <p:nvPr/>
        </p:nvSpPr>
        <p:spPr>
          <a:xfrm>
            <a:off x="8995737" y="2395728"/>
            <a:ext cx="493776" cy="493776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27" name="MdPerson_w.png" descr="MdPerso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4367" y="2504359"/>
            <a:ext cx="276515" cy="276515"/>
          </a:xfrm>
          <a:prstGeom prst="rect">
            <a:avLst/>
          </a:prstGeom>
        </p:spPr>
      </p:pic>
      <p:sp>
        <p:nvSpPr>
          <p:cNvPr id="8" name="TextBox 127"/>
          <p:cNvSpPr txBox="1"/>
          <p:nvPr/>
        </p:nvSpPr>
        <p:spPr>
          <a:xfrm>
            <a:off x="8693331" y="2990088"/>
            <a:ext cx="1098586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sz="1300" b="1" i="0" dirty="0">
                <a:solidFill>
                  <a:srgbClr val="013765"/>
                </a:solidFill>
                <a:latin typeface="Calibri"/>
              </a:rPr>
              <a:t>Who remains accountable?</a:t>
            </a:r>
          </a:p>
        </p:txBody>
      </p:sp>
      <p:cxnSp>
        <p:nvCxnSpPr>
          <p:cNvPr id="128" name="Connector 128"/>
          <p:cNvCxnSpPr/>
          <p:nvPr/>
        </p:nvCxnSpPr>
        <p:spPr>
          <a:xfrm>
            <a:off x="9910790" y="3035808"/>
            <a:ext cx="164592" cy="0"/>
          </a:xfrm>
          <a:prstGeom prst="line">
            <a:avLst/>
          </a:prstGeom>
          <a:ln w="22225">
            <a:solidFill>
              <a:srgbClr val="0079CF"/>
            </a:solidFill>
            <a:tailEnd type="triangle" w="med" len="med"/>
          </a:ln>
        </p:spPr>
      </p:cxnSp>
      <p:sp>
        <p:nvSpPr>
          <p:cNvPr id="129" name="Rectangle 129"/>
          <p:cNvSpPr/>
          <p:nvPr/>
        </p:nvSpPr>
        <p:spPr>
          <a:xfrm>
            <a:off x="10102814" y="2240280"/>
            <a:ext cx="1281466" cy="1600200"/>
          </a:xfrm>
          <a:prstGeom prst="rect">
            <a:avLst/>
          </a:prstGeom>
          <a:solidFill>
            <a:srgbClr val="007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0" name="Oval 130"/>
          <p:cNvSpPr/>
          <p:nvPr/>
        </p:nvSpPr>
        <p:spPr>
          <a:xfrm>
            <a:off x="10496659" y="2395728"/>
            <a:ext cx="493776" cy="49377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1" name="MdFactCheck_b.png" descr="MdFactCheck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5290" y="2504359"/>
            <a:ext cx="276515" cy="276515"/>
          </a:xfrm>
          <a:prstGeom prst="rect">
            <a:avLst/>
          </a:prstGeom>
        </p:spPr>
      </p:pic>
      <p:sp>
        <p:nvSpPr>
          <p:cNvPr id="9" name="TextBox 131"/>
          <p:cNvSpPr txBox="1"/>
          <p:nvPr/>
        </p:nvSpPr>
        <p:spPr>
          <a:xfrm>
            <a:off x="10194254" y="2990088"/>
            <a:ext cx="1098586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What evidence demonstrates it worked?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1097280" y="4114800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900" b="1" i="0" cap="all" spc="150" dirty="0">
                <a:solidFill>
                  <a:srgbClr val="0079CF"/>
                </a:solidFill>
                <a:latin typeface="Calibri"/>
              </a:rPr>
              <a:t>The result</a:t>
            </a:r>
          </a:p>
        </p:txBody>
      </p:sp>
      <p:sp>
        <p:nvSpPr>
          <p:cNvPr id="133" name="Rectangle 133"/>
          <p:cNvSpPr/>
          <p:nvPr/>
        </p:nvSpPr>
        <p:spPr>
          <a:xfrm>
            <a:off x="1097280" y="4389120"/>
            <a:ext cx="4937760" cy="1554480"/>
          </a:xfrm>
          <a:prstGeom prst="rect">
            <a:avLst/>
          </a:prstGeom>
          <a:solidFill>
            <a:srgbClr val="0137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lang="en-US" sz="2200" b="1" i="0" dirty="0">
                <a:solidFill>
                  <a:srgbClr val="FFFFFF"/>
                </a:solidFill>
                <a:latin typeface="Calibri"/>
              </a:rPr>
              <a:t>Same governance outcomes. Different operating model.</a:t>
            </a:r>
          </a:p>
        </p:txBody>
      </p:sp>
      <p:sp>
        <p:nvSpPr>
          <p:cNvPr id="134" name="Rectangle 134"/>
          <p:cNvSpPr/>
          <p:nvPr/>
        </p:nvSpPr>
        <p:spPr>
          <a:xfrm>
            <a:off x="6217920" y="4389120"/>
            <a:ext cx="5166360" cy="1554480"/>
          </a:xfrm>
          <a:prstGeom prst="rect">
            <a:avLst/>
          </a:prstGeom>
          <a:solidFill>
            <a:srgbClr val="E8F2FB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sp>
        <p:nvSpPr>
          <p:cNvPr id="135" name="Oval 135"/>
          <p:cNvSpPr/>
          <p:nvPr/>
        </p:nvSpPr>
        <p:spPr>
          <a:xfrm>
            <a:off x="6492240" y="4892040"/>
            <a:ext cx="548640" cy="548640"/>
          </a:xfrm>
          <a:prstGeom prst="ellipse">
            <a:avLst/>
          </a:prstGeom>
          <a:solidFill>
            <a:srgbClr val="0079CF"/>
          </a:solidFill>
          <a:ln>
            <a:noFill/>
          </a:ln>
          <a:effectLst/>
        </p:spPr>
        <p:txBody>
          <a:bodyPr wrap="square" lIns="91440" tIns="45720" rIns="91440" bIns="45720" rtlCol="0" anchor="ctr">
            <a:noAutofit/>
          </a:bodyPr>
          <a:lstStyle/>
          <a:p>
            <a:endParaRPr lang="en-US"/>
          </a:p>
        </p:txBody>
      </p:sp>
      <p:pic>
        <p:nvPicPr>
          <p:cNvPr id="136" name="MdLayers_w.png" descr="MdLayer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12941" y="5012741"/>
            <a:ext cx="307238" cy="307238"/>
          </a:xfrm>
          <a:prstGeom prst="rect">
            <a:avLst/>
          </a:prstGeom>
        </p:spPr>
      </p:pic>
      <p:sp>
        <p:nvSpPr>
          <p:cNvPr id="10" name="TextBox 136"/>
          <p:cNvSpPr txBox="1"/>
          <p:nvPr/>
        </p:nvSpPr>
        <p:spPr>
          <a:xfrm>
            <a:off x="7269480" y="4389120"/>
            <a:ext cx="3931920" cy="1554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600" b="0" i="0" dirty="0">
                <a:solidFill>
                  <a:srgbClr val="013765"/>
                </a:solidFill>
                <a:latin typeface="Calibri"/>
              </a:rPr>
              <a:t>The governance framework scales across business functions, AI capabilities and use cases.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Questions &amp; Discussion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 dirty="0"/>
              <a:t>Copilot for Legal </a:t>
            </a:r>
            <a:r>
              <a:rPr lang="en-IN" sz="1600" dirty="0"/>
              <a:t>-</a:t>
            </a:r>
            <a:r>
              <a:rPr sz="1600" dirty="0"/>
              <a:t> Governance Demonstration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CBSVT_CorporateTemplate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77C8"/>
      </a:accent1>
      <a:accent2>
        <a:srgbClr val="99D6EA"/>
      </a:accent2>
      <a:accent3>
        <a:srgbClr val="5D6439"/>
      </a:accent3>
      <a:accent4>
        <a:srgbClr val="8C8C48"/>
      </a:accent4>
      <a:accent5>
        <a:srgbClr val="4BACC6"/>
      </a:accent5>
      <a:accent6>
        <a:srgbClr val="F79646"/>
      </a:accent6>
      <a:hlink>
        <a:srgbClr val="0077C8"/>
      </a:hlink>
      <a:folHlink>
        <a:srgbClr val="0077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CBSVT_CorporateTemplate-2020.pptx" id="{259A73AF-F759-4C36-A51D-84372F1EABC5}" vid="{B5EA280E-63CD-4AF8-8BB6-8B6D4D81395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7c48e1d-5683-47b2-a58c-2d8ebfb3001a" xsi:nil="true"/>
    <lcf76f155ced4ddcb4097134ff3c332f xmlns="3ddd6749-6aa0-40c7-8f05-4ef96f9a16a4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841318954F3749A52FCB8B5A691E0A" ma:contentTypeVersion="10" ma:contentTypeDescription="Create a new document." ma:contentTypeScope="" ma:versionID="3e1f45fa745b846473bb98fee2be3298">
  <xsd:schema xmlns:xsd="http://www.w3.org/2001/XMLSchema" xmlns:xs="http://www.w3.org/2001/XMLSchema" xmlns:p="http://schemas.microsoft.com/office/2006/metadata/properties" xmlns:ns2="3ddd6749-6aa0-40c7-8f05-4ef96f9a16a4" xmlns:ns3="47c48e1d-5683-47b2-a58c-2d8ebfb3001a" targetNamespace="http://schemas.microsoft.com/office/2006/metadata/properties" ma:root="true" ma:fieldsID="dcd2371b096e3a1e7ad2cd10dddd39e1" ns2:_="" ns3:_="">
    <xsd:import namespace="3ddd6749-6aa0-40c7-8f05-4ef96f9a16a4"/>
    <xsd:import namespace="47c48e1d-5683-47b2-a58c-2d8ebfb3001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dd6749-6aa0-40c7-8f05-4ef96f9a16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686cc5e-50d3-4a93-b635-98f94c149fd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c48e1d-5683-47b2-a58c-2d8ebfb3001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5e048d6-f984-435d-8548-69230b6bca39}" ma:internalName="TaxCatchAll" ma:showField="CatchAllData" ma:web="47c48e1d-5683-47b2-a58c-2d8ebfb300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0C3C14-5077-45B9-B901-605840DEEDD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90A2943-A724-4BC0-9C1D-C43FE478E1B8}">
  <ds:schemaRefs>
    <ds:schemaRef ds:uri="3ddd6749-6aa0-40c7-8f05-4ef96f9a16a4"/>
    <ds:schemaRef ds:uri="47c48e1d-5683-47b2-a58c-2d8ebfb3001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C288A1-0687-4490-9F86-32BC985A4AFD}">
  <ds:schemaRefs>
    <ds:schemaRef ds:uri="3ddd6749-6aa0-40c7-8f05-4ef96f9a16a4"/>
    <ds:schemaRef ds:uri="47c48e1d-5683-47b2-a58c-2d8ebfb3001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BCBSVT_CorporateTemplate-2020</Template>
  <TotalTime>0</TotalTime>
  <Words>3175</Words>
  <Application>Microsoft Office PowerPoint</Application>
  <PresentationFormat>Widescreen</PresentationFormat>
  <Paragraphs>728</Paragraphs>
  <Slides>25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27" baseType="lpstr">
      <vt:lpstr>BCBSVT_CorporateTemplate</vt:lpstr>
      <vt:lpstr>Office Theme</vt:lpstr>
      <vt:lpstr>507 &amp; 510: Workshop_09/24 – 09/25</vt:lpstr>
      <vt:lpstr>Agenda</vt:lpstr>
      <vt:lpstr>SPRINT 1: Establish Mandate &amp; Inventory Shadow AI</vt:lpstr>
      <vt:lpstr>SPRINT 2: Identify &amp; Prioritize AI Value Opportunities</vt:lpstr>
      <vt:lpstr>PowerPoint Presentation</vt:lpstr>
      <vt:lpstr>PowerPoint Presentation</vt:lpstr>
      <vt:lpstr>Regulatory Mapping Feeds the Control Functions</vt:lpstr>
      <vt:lpstr>Governance Demonstration Copilot for legal</vt:lpstr>
      <vt:lpstr>Before governing AI, understand the business activity</vt:lpstr>
      <vt:lpstr>What Are We Demonstrating?</vt:lpstr>
      <vt:lpstr>Meet Maria</vt:lpstr>
      <vt:lpstr>Start Work</vt:lpstr>
      <vt:lpstr>Review an Assigned Contract</vt:lpstr>
      <vt:lpstr>Find Information</vt:lpstr>
      <vt:lpstr>Work With Sensitive Information</vt:lpstr>
      <vt:lpstr>Use Only What Is Needed</vt:lpstr>
      <vt:lpstr>Prepare a Legal Response</vt:lpstr>
      <vt:lpstr>A Request Falls Outside Maria's Role</vt:lpstr>
      <vt:lpstr>Prepare Information for Sharing</vt:lpstr>
      <vt:lpstr>A Legal Decision Requires Human Judgment</vt:lpstr>
      <vt:lpstr>Can the Organization Prove What Happened</vt:lpstr>
      <vt:lpstr>What Maria's Day Demonstrated</vt:lpstr>
      <vt:lpstr>Govern the AI-enabled business process</vt:lpstr>
      <vt:lpstr>From Demonstration to Operating Model</vt:lpstr>
      <vt:lpstr>Questions &amp; Discussion</vt:lpstr>
    </vt:vector>
  </TitlesOfParts>
  <Company>BCBSVT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PAGE (if text is longer then 14 letters, reduce the font size to 44 and use two lines vs. one)</dc:title>
  <dc:creator>Teresa Anderson</dc:creator>
  <cp:lastModifiedBy>Apurva Shah</cp:lastModifiedBy>
  <cp:revision>4</cp:revision>
  <dcterms:created xsi:type="dcterms:W3CDTF">2021-03-01T16:00:34Z</dcterms:created>
  <dcterms:modified xsi:type="dcterms:W3CDTF">2026-09-25T12:20:21Z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0x0101003E841318954F3749A52FCB8B5A691E0A</vt:lpwstr>
  </property>
  <property fmtid="{D5CDD505-2E9C-101B-9397-08002B2CF9AE}" pid="3" name="DocumentCategory">
    <vt:lpwstr/>
  </property>
  <property fmtid="{D5CDD505-2E9C-101B-9397-08002B2CF9AE}" pid="4" name="MediaServiceImageTags">
    <vt:lpwstr/>
  </property>
</Properties>
</file>